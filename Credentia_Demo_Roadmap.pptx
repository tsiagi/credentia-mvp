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0971" autoAdjust="0"/>
  </p:normalViewPr>
  <p:slideViewPr>
    <p:cSldViewPr snapToGrid="0" snapToObjects="1">
      <p:cViewPr varScale="1">
        <p:scale>
          <a:sx n="86" d="100"/>
          <a:sy n="86" d="100"/>
        </p:scale>
        <p:origin x="125"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7B7637-E2DF-4DDA-8AEF-0EB056D83712}" type="datetimeFigureOut">
              <a:rPr lang="en-US" smtClean="0"/>
              <a:t>6/14/2026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B9023C-7008-4D1F-AC4A-0A23E36FAF85}" type="slidenum">
              <a:rPr lang="en-US" smtClean="0"/>
              <a:t>‹#›</a:t>
            </a:fld>
            <a:endParaRPr lang="en-US"/>
          </a:p>
        </p:txBody>
      </p:sp>
    </p:spTree>
    <p:extLst>
      <p:ext uri="{BB962C8B-B14F-4D97-AF65-F5344CB8AC3E}">
        <p14:creationId xmlns:p14="http://schemas.microsoft.com/office/powerpoint/2010/main" val="27758937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  The Big Idea (Elevator Pitch)</a:t>
            </a:r>
          </a:p>
          <a:p>
            <a:r>
              <a:rPr lang="en-US" sz="1200" b="0" i="0" kern="1200" dirty="0">
                <a:solidFill>
                  <a:schemeClr val="tx1"/>
                </a:solidFill>
                <a:effectLst/>
                <a:latin typeface="+mn-lt"/>
                <a:ea typeface="+mn-ea"/>
                <a:cs typeface="+mn-cs"/>
              </a:rPr>
              <a:t>[Company Name] is the world’s first **Verified Career Ecosystem and Organizational Health Platform**. By partnering with employers to turn job duties, KPIs, and project milestones into immutable, employer-verified facts, we eliminate resume fraud and AI-generated misinformation for job seekers. Simultaneously, we leverage this verified work infrastructure to provide executives with an internal workflow and analytics suite that tracks company morale, productivity, and operational hotspots in real time.</a:t>
            </a:r>
          </a:p>
          <a:p>
            <a:endParaRPr lang="en-US" dirty="0"/>
          </a:p>
        </p:txBody>
      </p:sp>
      <p:sp>
        <p:nvSpPr>
          <p:cNvPr id="4" name="Slide Number Placeholder 3"/>
          <p:cNvSpPr>
            <a:spLocks noGrp="1"/>
          </p:cNvSpPr>
          <p:nvPr>
            <p:ph type="sldNum" sz="quarter" idx="5"/>
          </p:nvPr>
        </p:nvSpPr>
        <p:spPr/>
        <p:txBody>
          <a:bodyPr/>
          <a:lstStyle/>
          <a:p>
            <a:fld id="{2AB9023C-7008-4D1F-AC4A-0A23E36FAF85}" type="slidenum">
              <a:rPr lang="en-US" smtClean="0"/>
              <a:t>1</a:t>
            </a:fld>
            <a:endParaRPr lang="en-US"/>
          </a:p>
        </p:txBody>
      </p:sp>
    </p:spTree>
    <p:extLst>
      <p:ext uri="{BB962C8B-B14F-4D97-AF65-F5344CB8AC3E}">
        <p14:creationId xmlns:p14="http://schemas.microsoft.com/office/powerpoint/2010/main" val="33112991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2286000"/>
            <a:ext cx="10515600" cy="2011680"/>
          </a:xfrm>
          <a:prstGeom prst="rect">
            <a:avLst/>
          </a:prstGeom>
          <a:noFill/>
        </p:spPr>
        <p:txBody>
          <a:bodyPr wrap="square" anchor="t">
            <a:spAutoFit/>
          </a:bodyPr>
          <a:lstStyle/>
          <a:p>
            <a:pPr algn="l">
              <a:spcAft>
                <a:spcPts val="600"/>
              </a:spcAft>
            </a:pPr>
            <a:r>
              <a:rPr sz="6000" b="1" i="0">
                <a:solidFill>
                  <a:srgbClr val="FFFFFF"/>
                </a:solidFill>
                <a:latin typeface="Segoe UI"/>
              </a:rPr>
              <a:t>Credentia</a:t>
            </a:r>
          </a:p>
          <a:p>
            <a:pPr algn="l">
              <a:spcAft>
                <a:spcPts val="400"/>
              </a:spcAft>
            </a:pPr>
            <a:r>
              <a:rPr sz="2400" b="0" i="0">
                <a:solidFill>
                  <a:srgbClr val="C7D2FE"/>
                </a:solidFill>
                <a:latin typeface="Segoe UI"/>
              </a:rPr>
              <a:t>The System of Record for Workforce Truth</a:t>
            </a:r>
          </a:p>
          <a:p>
            <a:pPr algn="l">
              <a:spcAft>
                <a:spcPts val="600"/>
              </a:spcAft>
            </a:pPr>
            <a:r>
              <a:rPr sz="1600" b="0" i="0">
                <a:solidFill>
                  <a:srgbClr val="94A3B8"/>
                </a:solidFill>
                <a:latin typeface="Segoe UI"/>
              </a:rPr>
              <a:t>Current Build Demo  +  Product Roadmap</a:t>
            </a:r>
          </a:p>
        </p:txBody>
      </p:sp>
      <p:sp>
        <p:nvSpPr>
          <p:cNvPr id="5" name="TextBox 4"/>
          <p:cNvSpPr txBox="1"/>
          <p:nvPr/>
        </p:nvSpPr>
        <p:spPr>
          <a:xfrm>
            <a:off x="822960" y="6035040"/>
            <a:ext cx="10515600" cy="457200"/>
          </a:xfrm>
          <a:prstGeom prst="rect">
            <a:avLst/>
          </a:prstGeom>
          <a:noFill/>
        </p:spPr>
        <p:txBody>
          <a:bodyPr wrap="square" anchor="t">
            <a:spAutoFit/>
          </a:bodyPr>
          <a:lstStyle/>
          <a:p>
            <a:pPr algn="l">
              <a:spcAft>
                <a:spcPts val="600"/>
              </a:spcAft>
            </a:pPr>
            <a:r>
              <a:rPr sz="1200" b="0" i="0">
                <a:solidFill>
                  <a:srgbClr val="94A3B8"/>
                </a:solidFill>
                <a:latin typeface="Segoe UI"/>
              </a:rPr>
              <a:t>Presenter  •  Date  •  Confidential</a:t>
            </a:r>
          </a:p>
        </p:txBody>
      </p:sp>
      <p:sp>
        <p:nvSpPr>
          <p:cNvPr id="6" name="Rounded Rectangle 5"/>
          <p:cNvSpPr/>
          <p:nvPr/>
        </p:nvSpPr>
        <p:spPr>
          <a:xfrm>
            <a:off x="9509760" y="2377440"/>
            <a:ext cx="1828800" cy="548640"/>
          </a:xfrm>
          <a:prstGeom prst="roundRect">
            <a:avLst>
              <a:gd name="adj" fmla="val 6000"/>
            </a:avLst>
          </a:prstGeom>
          <a:solidFill>
            <a:srgbClr val="1E2433"/>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600"/>
              </a:spcAft>
            </a:pPr>
            <a:r>
              <a:rPr sz="1400" b="1" i="0">
                <a:solidFill>
                  <a:srgbClr val="3B82F6"/>
                </a:solidFill>
                <a:latin typeface="Segoe UI"/>
              </a:rPr>
              <a:t>🛡  Verified</a:t>
            </a:r>
          </a:p>
        </p:txBody>
      </p:sp>
      <p:sp>
        <p:nvSpPr>
          <p:cNvPr id="7" name="Rounded Rectangle 6"/>
          <p:cNvSpPr/>
          <p:nvPr/>
        </p:nvSpPr>
        <p:spPr>
          <a:xfrm>
            <a:off x="9509760" y="3063240"/>
            <a:ext cx="1828800" cy="548640"/>
          </a:xfrm>
          <a:prstGeom prst="roundRect">
            <a:avLst>
              <a:gd name="adj" fmla="val 6000"/>
            </a:avLst>
          </a:prstGeom>
          <a:solidFill>
            <a:srgbClr val="2A2210"/>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400" b="1" i="0">
                <a:solidFill>
                  <a:srgbClr val="F59E0B"/>
                </a:solidFill>
                <a:latin typeface="Segoe UI"/>
              </a:rPr>
              <a:t>✦  AI Estimate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502920"/>
            <a:ext cx="10881360" cy="365760"/>
          </a:xfrm>
          <a:prstGeom prst="rect">
            <a:avLst/>
          </a:prstGeom>
          <a:noFill/>
        </p:spPr>
        <p:txBody>
          <a:bodyPr wrap="square" anchor="t">
            <a:spAutoFit/>
          </a:bodyPr>
          <a:lstStyle/>
          <a:p>
            <a:pPr algn="l">
              <a:spcAft>
                <a:spcPts val="600"/>
              </a:spcAft>
            </a:pPr>
            <a:r>
              <a:rPr sz="1300" b="1" i="0">
                <a:solidFill>
                  <a:srgbClr val="6366F1"/>
                </a:solidFill>
                <a:latin typeface="Segoe UI"/>
              </a:rPr>
              <a:t>THE PROBLEM</a:t>
            </a:r>
          </a:p>
        </p:txBody>
      </p:sp>
      <p:sp>
        <p:nvSpPr>
          <p:cNvPr id="5" name="TextBox 4"/>
          <p:cNvSpPr txBox="1"/>
          <p:nvPr/>
        </p:nvSpPr>
        <p:spPr>
          <a:xfrm>
            <a:off x="640080" y="868680"/>
            <a:ext cx="10881360" cy="914400"/>
          </a:xfrm>
          <a:prstGeom prst="rect">
            <a:avLst/>
          </a:prstGeom>
          <a:noFill/>
        </p:spPr>
        <p:txBody>
          <a:bodyPr wrap="square" anchor="t">
            <a:spAutoFit/>
          </a:bodyPr>
          <a:lstStyle/>
          <a:p>
            <a:pPr algn="l">
              <a:spcAft>
                <a:spcPts val="600"/>
              </a:spcAft>
            </a:pPr>
            <a:r>
              <a:rPr sz="3400" b="1" i="0">
                <a:solidFill>
                  <a:srgbClr val="0F172A"/>
                </a:solidFill>
                <a:latin typeface="Segoe UI"/>
              </a:rPr>
              <a:t>Every talent tool blurs opinion and fact.</a:t>
            </a:r>
          </a:p>
        </p:txBody>
      </p:sp>
      <p:sp>
        <p:nvSpPr>
          <p:cNvPr id="6" name="TextBox 5"/>
          <p:cNvSpPr txBox="1"/>
          <p:nvPr/>
        </p:nvSpPr>
        <p:spPr>
          <a:xfrm>
            <a:off x="731520" y="2011680"/>
            <a:ext cx="10698480" cy="4023360"/>
          </a:xfrm>
          <a:prstGeom prst="rect">
            <a:avLst/>
          </a:prstGeom>
          <a:noFill/>
        </p:spPr>
        <p:txBody>
          <a:bodyPr wrap="square" anchor="t">
            <a:spAutoFit/>
          </a:bodyPr>
          <a:lstStyle/>
          <a:p>
            <a:pPr algn="l">
              <a:spcAft>
                <a:spcPts val="1600"/>
              </a:spcAft>
            </a:pPr>
            <a:r>
              <a:rPr sz="1900" b="0" i="0" dirty="0">
                <a:solidFill>
                  <a:srgbClr val="475569"/>
                </a:solidFill>
                <a:latin typeface="Segoe UI"/>
              </a:rPr>
              <a:t>•   Résumés are self-reported and impossible to verify.</a:t>
            </a:r>
          </a:p>
          <a:p>
            <a:pPr algn="l">
              <a:spcAft>
                <a:spcPts val="1600"/>
              </a:spcAft>
            </a:pPr>
            <a:r>
              <a:rPr sz="1900" b="0" i="0" dirty="0">
                <a:solidFill>
                  <a:srgbClr val="475569"/>
                </a:solidFill>
                <a:latin typeface="Segoe UI"/>
              </a:rPr>
              <a:t>•   Performance data mixes hard evidence with manager gut-feel.</a:t>
            </a:r>
          </a:p>
          <a:p>
            <a:pPr algn="l">
              <a:spcAft>
                <a:spcPts val="1600"/>
              </a:spcAft>
            </a:pPr>
            <a:r>
              <a:rPr sz="1900" b="0" i="0" dirty="0">
                <a:solidFill>
                  <a:srgbClr val="475569"/>
                </a:solidFill>
                <a:latin typeface="Segoe UI"/>
              </a:rPr>
              <a:t>•   AI tools confidently present guesses as if they were truth.</a:t>
            </a:r>
          </a:p>
          <a:p>
            <a:pPr algn="l">
              <a:spcAft>
                <a:spcPts val="1600"/>
              </a:spcAft>
            </a:pPr>
            <a:r>
              <a:rPr sz="1900" b="0" i="0" dirty="0">
                <a:solidFill>
                  <a:srgbClr val="475569"/>
                </a:solidFill>
                <a:latin typeface="Segoe UI"/>
              </a:rPr>
              <a:t>•   The result: nobody can fully trust workforce data today.</a:t>
            </a:r>
          </a:p>
        </p:txBody>
      </p:sp>
      <p:sp>
        <p:nvSpPr>
          <p:cNvPr id="7" name="TextBox 6"/>
          <p:cNvSpPr txBox="1"/>
          <p:nvPr/>
        </p:nvSpPr>
        <p:spPr>
          <a:xfrm>
            <a:off x="731520" y="5806440"/>
            <a:ext cx="10698480" cy="548640"/>
          </a:xfrm>
          <a:prstGeom prst="rect">
            <a:avLst/>
          </a:prstGeom>
          <a:noFill/>
        </p:spPr>
        <p:txBody>
          <a:bodyPr wrap="square" anchor="t">
            <a:spAutoFit/>
          </a:bodyPr>
          <a:lstStyle/>
          <a:p>
            <a:pPr algn="l">
              <a:spcAft>
                <a:spcPts val="600"/>
              </a:spcAft>
            </a:pPr>
            <a:r>
              <a:rPr sz="1100" b="0" i="1">
                <a:solidFill>
                  <a:srgbClr val="6366F1"/>
                </a:solidFill>
                <a:latin typeface="Segoe UI"/>
              </a:rPr>
              <a:t>VISUAL:  Messy 'blended data' graphic — a muddy purple blob mixing fact + opinion.</a:t>
            </a:r>
          </a:p>
        </p:txBody>
      </p:sp>
      <p:sp>
        <p:nvSpPr>
          <p:cNvPr id="8" name="TextBox 7"/>
          <p:cNvSpPr txBox="1"/>
          <p:nvPr/>
        </p:nvSpPr>
        <p:spPr>
          <a:xfrm>
            <a:off x="640080" y="6419088"/>
            <a:ext cx="10881360" cy="320040"/>
          </a:xfrm>
          <a:prstGeom prst="rect">
            <a:avLst/>
          </a:prstGeom>
          <a:noFill/>
        </p:spPr>
        <p:txBody>
          <a:bodyPr wrap="square" anchor="t">
            <a:spAutoFit/>
          </a:bodyPr>
          <a:lstStyle/>
          <a:p>
            <a:pPr algn="l">
              <a:spcAft>
                <a:spcPts val="600"/>
              </a:spcAft>
            </a:pPr>
            <a:r>
              <a:rPr sz="900" b="0" i="0">
                <a:solidFill>
                  <a:srgbClr val="94A3B8"/>
                </a:solidFill>
                <a:latin typeface="Segoe UI"/>
              </a:rPr>
              <a:t>Credentia — Confidential</a:t>
            </a:r>
          </a:p>
        </p:txBody>
      </p:sp>
      <p:sp>
        <p:nvSpPr>
          <p:cNvPr id="9" name="TextBox 8"/>
          <p:cNvSpPr txBox="1"/>
          <p:nvPr/>
        </p:nvSpPr>
        <p:spPr>
          <a:xfrm>
            <a:off x="10241280" y="6419088"/>
            <a:ext cx="1280160" cy="320040"/>
          </a:xfrm>
          <a:prstGeom prst="rect">
            <a:avLst/>
          </a:prstGeom>
          <a:noFill/>
        </p:spPr>
        <p:txBody>
          <a:bodyPr wrap="square" anchor="t">
            <a:spAutoFit/>
          </a:bodyPr>
          <a:lstStyle/>
          <a:p>
            <a:pPr algn="r">
              <a:spcAft>
                <a:spcPts val="600"/>
              </a:spcAft>
            </a:pPr>
            <a:r>
              <a:rPr sz="900" b="0" i="0">
                <a:solidFill>
                  <a:srgbClr val="94A3B8"/>
                </a:solidFill>
                <a:latin typeface="Segoe UI"/>
              </a:rPr>
              <a:t>2 / 18</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502920"/>
            <a:ext cx="10881360" cy="365760"/>
          </a:xfrm>
          <a:prstGeom prst="rect">
            <a:avLst/>
          </a:prstGeom>
          <a:noFill/>
        </p:spPr>
        <p:txBody>
          <a:bodyPr wrap="square" anchor="t">
            <a:spAutoFit/>
          </a:bodyPr>
          <a:lstStyle/>
          <a:p>
            <a:pPr algn="l">
              <a:spcAft>
                <a:spcPts val="600"/>
              </a:spcAft>
            </a:pPr>
            <a:r>
              <a:rPr sz="1300" b="1" i="0">
                <a:solidFill>
                  <a:srgbClr val="6366F1"/>
                </a:solidFill>
                <a:latin typeface="Segoe UI"/>
              </a:rPr>
              <a:t>THE INSIGHT — OUR WEDGE</a:t>
            </a:r>
          </a:p>
        </p:txBody>
      </p:sp>
      <p:sp>
        <p:nvSpPr>
          <p:cNvPr id="5" name="TextBox 4"/>
          <p:cNvSpPr txBox="1"/>
          <p:nvPr/>
        </p:nvSpPr>
        <p:spPr>
          <a:xfrm>
            <a:off x="640080" y="868680"/>
            <a:ext cx="10881360" cy="914400"/>
          </a:xfrm>
          <a:prstGeom prst="rect">
            <a:avLst/>
          </a:prstGeom>
          <a:noFill/>
        </p:spPr>
        <p:txBody>
          <a:bodyPr wrap="square" anchor="t">
            <a:spAutoFit/>
          </a:bodyPr>
          <a:lstStyle/>
          <a:p>
            <a:pPr algn="l">
              <a:spcAft>
                <a:spcPts val="600"/>
              </a:spcAft>
            </a:pPr>
            <a:r>
              <a:rPr sz="3400" b="1" i="0">
                <a:solidFill>
                  <a:srgbClr val="0F172A"/>
                </a:solidFill>
                <a:latin typeface="Segoe UI"/>
              </a:rPr>
              <a:t>We made the distinction architectural.</a:t>
            </a:r>
          </a:p>
        </p:txBody>
      </p:sp>
      <p:sp>
        <p:nvSpPr>
          <p:cNvPr id="6" name="Rounded Rectangle 5"/>
          <p:cNvSpPr/>
          <p:nvPr/>
        </p:nvSpPr>
        <p:spPr>
          <a:xfrm>
            <a:off x="731520" y="2011680"/>
            <a:ext cx="5120640" cy="3108960"/>
          </a:xfrm>
          <a:prstGeom prst="roundRect">
            <a:avLst>
              <a:gd name="adj" fmla="val 6000"/>
            </a:avLst>
          </a:prstGeom>
          <a:solidFill>
            <a:srgbClr val="EFF6FF"/>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wrap="square" lIns="274320" tIns="274320" rtlCol="0" anchor="ctr"/>
          <a:lstStyle/>
          <a:p>
            <a:pPr algn="l">
              <a:spcAft>
                <a:spcPts val="600"/>
              </a:spcAft>
            </a:pPr>
            <a:r>
              <a:rPr sz="2200" b="1" i="0">
                <a:solidFill>
                  <a:srgbClr val="3B82F6"/>
                </a:solidFill>
                <a:latin typeface="Segoe UI"/>
              </a:rPr>
              <a:t>🛡  Verified Facts</a:t>
            </a:r>
          </a:p>
          <a:p>
            <a:pPr algn="l">
              <a:spcAft>
                <a:spcPts val="400"/>
              </a:spcAft>
            </a:pPr>
            <a:r>
              <a:rPr sz="1600" b="0" i="0">
                <a:solidFill>
                  <a:srgbClr val="0F172A"/>
                </a:solidFill>
                <a:latin typeface="Segoe UI"/>
              </a:rPr>
              <a:t>Attested by real humans</a:t>
            </a:r>
          </a:p>
          <a:p>
            <a:pPr algn="l">
              <a:spcAft>
                <a:spcPts val="400"/>
              </a:spcAft>
            </a:pPr>
            <a:r>
              <a:rPr sz="1400" b="0" i="0">
                <a:solidFill>
                  <a:srgbClr val="475569"/>
                </a:solidFill>
                <a:latin typeface="Segoe UI"/>
              </a:rPr>
              <a:t>Stored in separate verified_* tables</a:t>
            </a:r>
          </a:p>
          <a:p>
            <a:pPr algn="l">
              <a:spcAft>
                <a:spcPts val="600"/>
              </a:spcAft>
            </a:pPr>
            <a:r>
              <a:rPr sz="1400" b="0" i="0">
                <a:solidFill>
                  <a:srgbClr val="475569"/>
                </a:solidFill>
                <a:latin typeface="Segoe UI"/>
              </a:rPr>
              <a:t>Shield icon · blue · 5-level confidence</a:t>
            </a:r>
          </a:p>
        </p:txBody>
      </p:sp>
      <p:sp>
        <p:nvSpPr>
          <p:cNvPr id="7" name="Rounded Rectangle 6"/>
          <p:cNvSpPr/>
          <p:nvPr/>
        </p:nvSpPr>
        <p:spPr>
          <a:xfrm>
            <a:off x="6309360" y="2011680"/>
            <a:ext cx="5120640" cy="3108960"/>
          </a:xfrm>
          <a:prstGeom prst="roundRect">
            <a:avLst>
              <a:gd name="adj" fmla="val 6000"/>
            </a:avLst>
          </a:prstGeom>
          <a:solidFill>
            <a:srgbClr val="FFFBEB"/>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wrap="square" lIns="274320" tIns="274320" rtlCol="0" anchor="ctr"/>
          <a:lstStyle/>
          <a:p>
            <a:pPr algn="l">
              <a:spcAft>
                <a:spcPts val="600"/>
              </a:spcAft>
            </a:pPr>
            <a:r>
              <a:rPr sz="2200" b="1" i="0">
                <a:solidFill>
                  <a:srgbClr val="F59E0B"/>
                </a:solidFill>
                <a:latin typeface="Segoe UI"/>
              </a:rPr>
              <a:t>✦  AI Inferences</a:t>
            </a:r>
          </a:p>
          <a:p>
            <a:pPr algn="l">
              <a:spcAft>
                <a:spcPts val="400"/>
              </a:spcAft>
            </a:pPr>
            <a:r>
              <a:rPr sz="1600" b="0" i="0">
                <a:solidFill>
                  <a:srgbClr val="0F172A"/>
                </a:solidFill>
                <a:latin typeface="Segoe UI"/>
              </a:rPr>
              <a:t>Model-generated estimates</a:t>
            </a:r>
          </a:p>
          <a:p>
            <a:pPr algn="l">
              <a:spcAft>
                <a:spcPts val="400"/>
              </a:spcAft>
            </a:pPr>
            <a:r>
              <a:rPr sz="1400" b="0" i="0">
                <a:solidFill>
                  <a:srgbClr val="475569"/>
                </a:solidFill>
                <a:latin typeface="Segoe UI"/>
              </a:rPr>
              <a:t>Stored in separate ai_inference_* tables</a:t>
            </a:r>
          </a:p>
          <a:p>
            <a:pPr algn="l">
              <a:spcAft>
                <a:spcPts val="600"/>
              </a:spcAft>
            </a:pPr>
            <a:r>
              <a:rPr sz="1400" b="0" i="0">
                <a:solidFill>
                  <a:srgbClr val="475569"/>
                </a:solidFill>
                <a:latin typeface="Segoe UI"/>
              </a:rPr>
              <a:t>Sparkle icon · amber · always advisory</a:t>
            </a:r>
          </a:p>
        </p:txBody>
      </p:sp>
      <p:sp>
        <p:nvSpPr>
          <p:cNvPr id="8" name="TextBox 7"/>
          <p:cNvSpPr txBox="1"/>
          <p:nvPr/>
        </p:nvSpPr>
        <p:spPr>
          <a:xfrm>
            <a:off x="731520" y="5303520"/>
            <a:ext cx="10698480" cy="548640"/>
          </a:xfrm>
          <a:prstGeom prst="rect">
            <a:avLst/>
          </a:prstGeom>
          <a:noFill/>
        </p:spPr>
        <p:txBody>
          <a:bodyPr wrap="square" anchor="t">
            <a:spAutoFit/>
          </a:bodyPr>
          <a:lstStyle/>
          <a:p>
            <a:pPr algn="ctr">
              <a:spcAft>
                <a:spcPts val="600"/>
              </a:spcAft>
            </a:pPr>
            <a:r>
              <a:rPr sz="1600" b="1" i="0">
                <a:solidFill>
                  <a:srgbClr val="4F46E5"/>
                </a:solidFill>
                <a:latin typeface="Segoe UI"/>
              </a:rPr>
              <a:t>Enforced in the database — not just a UI choice. This is the moat.</a:t>
            </a:r>
          </a:p>
        </p:txBody>
      </p:sp>
      <p:sp>
        <p:nvSpPr>
          <p:cNvPr id="9" name="TextBox 8"/>
          <p:cNvSpPr txBox="1"/>
          <p:nvPr/>
        </p:nvSpPr>
        <p:spPr>
          <a:xfrm>
            <a:off x="640080" y="6419088"/>
            <a:ext cx="10881360" cy="320040"/>
          </a:xfrm>
          <a:prstGeom prst="rect">
            <a:avLst/>
          </a:prstGeom>
          <a:noFill/>
        </p:spPr>
        <p:txBody>
          <a:bodyPr wrap="square" anchor="t">
            <a:spAutoFit/>
          </a:bodyPr>
          <a:lstStyle/>
          <a:p>
            <a:pPr algn="l">
              <a:spcAft>
                <a:spcPts val="600"/>
              </a:spcAft>
            </a:pPr>
            <a:r>
              <a:rPr sz="900" b="0" i="0">
                <a:solidFill>
                  <a:srgbClr val="94A3B8"/>
                </a:solidFill>
                <a:latin typeface="Segoe UI"/>
              </a:rPr>
              <a:t>Credentia — Confidential</a:t>
            </a:r>
          </a:p>
        </p:txBody>
      </p:sp>
      <p:sp>
        <p:nvSpPr>
          <p:cNvPr id="10" name="TextBox 9"/>
          <p:cNvSpPr txBox="1"/>
          <p:nvPr/>
        </p:nvSpPr>
        <p:spPr>
          <a:xfrm>
            <a:off x="10241280" y="6419088"/>
            <a:ext cx="1280160" cy="320040"/>
          </a:xfrm>
          <a:prstGeom prst="rect">
            <a:avLst/>
          </a:prstGeom>
          <a:noFill/>
        </p:spPr>
        <p:txBody>
          <a:bodyPr wrap="square" anchor="t">
            <a:spAutoFit/>
          </a:bodyPr>
          <a:lstStyle/>
          <a:p>
            <a:pPr algn="r">
              <a:spcAft>
                <a:spcPts val="600"/>
              </a:spcAft>
            </a:pPr>
            <a:r>
              <a:rPr sz="900" b="0" i="0">
                <a:solidFill>
                  <a:srgbClr val="94A3B8"/>
                </a:solidFill>
                <a:latin typeface="Segoe UI"/>
              </a:rPr>
              <a:t>3 / 18</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502920"/>
            <a:ext cx="10881360" cy="365760"/>
          </a:xfrm>
          <a:prstGeom prst="rect">
            <a:avLst/>
          </a:prstGeom>
          <a:noFill/>
        </p:spPr>
        <p:txBody>
          <a:bodyPr wrap="square" anchor="t">
            <a:spAutoFit/>
          </a:bodyPr>
          <a:lstStyle/>
          <a:p>
            <a:pPr algn="l">
              <a:spcAft>
                <a:spcPts val="600"/>
              </a:spcAft>
            </a:pPr>
            <a:r>
              <a:rPr sz="1300" b="1" i="0">
                <a:solidFill>
                  <a:srgbClr val="6366F1"/>
                </a:solidFill>
                <a:latin typeface="Segoe UI"/>
              </a:rPr>
              <a:t>WHAT CREDENTIA IS</a:t>
            </a:r>
          </a:p>
        </p:txBody>
      </p:sp>
      <p:sp>
        <p:nvSpPr>
          <p:cNvPr id="5" name="TextBox 4"/>
          <p:cNvSpPr txBox="1"/>
          <p:nvPr/>
        </p:nvSpPr>
        <p:spPr>
          <a:xfrm>
            <a:off x="640080" y="868680"/>
            <a:ext cx="10881360" cy="914400"/>
          </a:xfrm>
          <a:prstGeom prst="rect">
            <a:avLst/>
          </a:prstGeom>
          <a:noFill/>
        </p:spPr>
        <p:txBody>
          <a:bodyPr wrap="square" anchor="t">
            <a:spAutoFit/>
          </a:bodyPr>
          <a:lstStyle/>
          <a:p>
            <a:pPr algn="l">
              <a:spcAft>
                <a:spcPts val="600"/>
              </a:spcAft>
            </a:pPr>
            <a:r>
              <a:rPr sz="3400" b="1" i="0">
                <a:solidFill>
                  <a:srgbClr val="0F172A"/>
                </a:solidFill>
                <a:latin typeface="Segoe UI"/>
              </a:rPr>
              <a:t>Enterprise workforce verification &amp; talent intelligence.</a:t>
            </a:r>
          </a:p>
        </p:txBody>
      </p:sp>
      <p:sp>
        <p:nvSpPr>
          <p:cNvPr id="6" name="TextBox 5"/>
          <p:cNvSpPr txBox="1"/>
          <p:nvPr/>
        </p:nvSpPr>
        <p:spPr>
          <a:xfrm>
            <a:off x="731520" y="2011680"/>
            <a:ext cx="10698480" cy="4023360"/>
          </a:xfrm>
          <a:prstGeom prst="rect">
            <a:avLst/>
          </a:prstGeom>
          <a:noFill/>
        </p:spPr>
        <p:txBody>
          <a:bodyPr wrap="square" anchor="t">
            <a:spAutoFit/>
          </a:bodyPr>
          <a:lstStyle/>
          <a:p>
            <a:pPr algn="l">
              <a:spcAft>
                <a:spcPts val="1400"/>
              </a:spcAft>
            </a:pPr>
            <a:r>
              <a:rPr sz="1900" b="0" i="0">
                <a:solidFill>
                  <a:srgbClr val="475569"/>
                </a:solidFill>
                <a:latin typeface="Segoe UI"/>
              </a:rPr>
              <a:t>•   Multi-tenant SaaS — each company is fully isolated.</a:t>
            </a:r>
          </a:p>
          <a:p>
            <a:pPr algn="l">
              <a:spcAft>
                <a:spcPts val="1400"/>
              </a:spcAft>
            </a:pPr>
            <a:r>
              <a:rPr sz="1900" b="0" i="0">
                <a:solidFill>
                  <a:srgbClr val="475569"/>
                </a:solidFill>
                <a:latin typeface="Segoe UI"/>
              </a:rPr>
              <a:t>•   Six roles, each with a purpose-built dashboard.</a:t>
            </a:r>
          </a:p>
          <a:p>
            <a:pPr algn="l">
              <a:spcAft>
                <a:spcPts val="1400"/>
              </a:spcAft>
            </a:pPr>
            <a:r>
              <a:rPr sz="1900" b="0" i="0">
                <a:solidFill>
                  <a:srgbClr val="475569"/>
                </a:solidFill>
                <a:latin typeface="Segoe UI"/>
              </a:rPr>
              <a:t>•   Turns everyday work into provable, portable credentials.</a:t>
            </a:r>
          </a:p>
        </p:txBody>
      </p:sp>
      <p:sp>
        <p:nvSpPr>
          <p:cNvPr id="7" name="Rounded Rectangle 6"/>
          <p:cNvSpPr/>
          <p:nvPr/>
        </p:nvSpPr>
        <p:spPr>
          <a:xfrm>
            <a:off x="731520" y="4023360"/>
            <a:ext cx="2743200" cy="365760"/>
          </a:xfrm>
          <a:prstGeom prst="roundRect">
            <a:avLst>
              <a:gd name="adj" fmla="val 6000"/>
            </a:avLst>
          </a:prstGeom>
          <a:solidFill>
            <a:srgbClr val="6366F1"/>
          </a:solidFill>
          <a:ln w="12700">
            <a:solidFill>
              <a:srgbClr val="6366F1"/>
            </a:solidFill>
          </a:ln>
          <a:effectLst/>
        </p:spPr>
        <p:style>
          <a:lnRef idx="1">
            <a:schemeClr val="accent1"/>
          </a:lnRef>
          <a:fillRef idx="3">
            <a:schemeClr val="accent1"/>
          </a:fillRef>
          <a:effectRef idx="2">
            <a:schemeClr val="accent1"/>
          </a:effectRef>
          <a:fontRef idx="minor">
            <a:schemeClr val="lt1"/>
          </a:fontRef>
        </p:style>
        <p:txBody>
          <a:bodyPr lIns="182880" rtlCol="0" anchor="ctr"/>
          <a:lstStyle/>
          <a:p>
            <a:pPr algn="l">
              <a:spcAft>
                <a:spcPts val="600"/>
              </a:spcAft>
            </a:pPr>
            <a:r>
              <a:rPr sz="1200" b="1" i="0">
                <a:solidFill>
                  <a:srgbClr val="FFFFFF"/>
                </a:solidFill>
                <a:latin typeface="Segoe UI"/>
              </a:rPr>
              <a:t>superadmin</a:t>
            </a:r>
          </a:p>
        </p:txBody>
      </p:sp>
      <p:sp>
        <p:nvSpPr>
          <p:cNvPr id="8" name="Rounded Rectangle 7"/>
          <p:cNvSpPr/>
          <p:nvPr/>
        </p:nvSpPr>
        <p:spPr>
          <a:xfrm>
            <a:off x="731520" y="4434840"/>
            <a:ext cx="4023360" cy="365760"/>
          </a:xfrm>
          <a:prstGeom prst="roundRect">
            <a:avLst>
              <a:gd name="adj" fmla="val 6000"/>
            </a:avLst>
          </a:prstGeom>
          <a:solidFill>
            <a:srgbClr val="E0E7FF"/>
          </a:solidFill>
          <a:ln w="12700">
            <a:solidFill>
              <a:srgbClr val="6366F1"/>
            </a:solidFill>
          </a:ln>
          <a:effectLst/>
        </p:spPr>
        <p:style>
          <a:lnRef idx="1">
            <a:schemeClr val="accent1"/>
          </a:lnRef>
          <a:fillRef idx="3">
            <a:schemeClr val="accent1"/>
          </a:fillRef>
          <a:effectRef idx="2">
            <a:schemeClr val="accent1"/>
          </a:effectRef>
          <a:fontRef idx="minor">
            <a:schemeClr val="lt1"/>
          </a:fontRef>
        </p:style>
        <p:txBody>
          <a:bodyPr lIns="182880" rtlCol="0" anchor="ctr"/>
          <a:lstStyle/>
          <a:p>
            <a:pPr algn="l">
              <a:spcAft>
                <a:spcPts val="600"/>
              </a:spcAft>
            </a:pPr>
            <a:r>
              <a:rPr sz="1200" b="1" i="0">
                <a:solidFill>
                  <a:srgbClr val="4F46E5"/>
                </a:solidFill>
                <a:latin typeface="Segoe UI"/>
              </a:rPr>
              <a:t>admin</a:t>
            </a:r>
          </a:p>
        </p:txBody>
      </p:sp>
      <p:sp>
        <p:nvSpPr>
          <p:cNvPr id="9" name="Rounded Rectangle 8"/>
          <p:cNvSpPr/>
          <p:nvPr/>
        </p:nvSpPr>
        <p:spPr>
          <a:xfrm>
            <a:off x="731520" y="4846320"/>
            <a:ext cx="5303520" cy="365760"/>
          </a:xfrm>
          <a:prstGeom prst="roundRect">
            <a:avLst>
              <a:gd name="adj" fmla="val 6000"/>
            </a:avLst>
          </a:prstGeom>
          <a:solidFill>
            <a:srgbClr val="E0E7FF"/>
          </a:solidFill>
          <a:ln w="12700">
            <a:solidFill>
              <a:srgbClr val="6366F1"/>
            </a:solidFill>
          </a:ln>
          <a:effectLst/>
        </p:spPr>
        <p:style>
          <a:lnRef idx="1">
            <a:schemeClr val="accent1"/>
          </a:lnRef>
          <a:fillRef idx="3">
            <a:schemeClr val="accent1"/>
          </a:fillRef>
          <a:effectRef idx="2">
            <a:schemeClr val="accent1"/>
          </a:effectRef>
          <a:fontRef idx="minor">
            <a:schemeClr val="lt1"/>
          </a:fontRef>
        </p:style>
        <p:txBody>
          <a:bodyPr lIns="182880" rtlCol="0" anchor="ctr"/>
          <a:lstStyle/>
          <a:p>
            <a:pPr algn="l">
              <a:spcAft>
                <a:spcPts val="600"/>
              </a:spcAft>
            </a:pPr>
            <a:r>
              <a:rPr sz="1200" b="1" i="0">
                <a:solidFill>
                  <a:srgbClr val="4F46E5"/>
                </a:solidFill>
                <a:latin typeface="Segoe UI"/>
              </a:rPr>
              <a:t>executive</a:t>
            </a:r>
          </a:p>
        </p:txBody>
      </p:sp>
      <p:sp>
        <p:nvSpPr>
          <p:cNvPr id="10" name="Rounded Rectangle 9"/>
          <p:cNvSpPr/>
          <p:nvPr/>
        </p:nvSpPr>
        <p:spPr>
          <a:xfrm>
            <a:off x="731520" y="5257800"/>
            <a:ext cx="6583679" cy="365760"/>
          </a:xfrm>
          <a:prstGeom prst="roundRect">
            <a:avLst>
              <a:gd name="adj" fmla="val 6000"/>
            </a:avLst>
          </a:prstGeom>
          <a:solidFill>
            <a:srgbClr val="E0E7FF"/>
          </a:solidFill>
          <a:ln w="12700">
            <a:solidFill>
              <a:srgbClr val="6366F1"/>
            </a:solidFill>
          </a:ln>
          <a:effectLst/>
        </p:spPr>
        <p:style>
          <a:lnRef idx="1">
            <a:schemeClr val="accent1"/>
          </a:lnRef>
          <a:fillRef idx="3">
            <a:schemeClr val="accent1"/>
          </a:fillRef>
          <a:effectRef idx="2">
            <a:schemeClr val="accent1"/>
          </a:effectRef>
          <a:fontRef idx="minor">
            <a:schemeClr val="lt1"/>
          </a:fontRef>
        </p:style>
        <p:txBody>
          <a:bodyPr lIns="182880" rtlCol="0" anchor="ctr"/>
          <a:lstStyle/>
          <a:p>
            <a:pPr algn="l">
              <a:spcAft>
                <a:spcPts val="600"/>
              </a:spcAft>
            </a:pPr>
            <a:r>
              <a:rPr sz="1200" b="1" i="0">
                <a:solidFill>
                  <a:srgbClr val="4F46E5"/>
                </a:solidFill>
                <a:latin typeface="Segoe UI"/>
              </a:rPr>
              <a:t>manager</a:t>
            </a:r>
          </a:p>
        </p:txBody>
      </p:sp>
      <p:sp>
        <p:nvSpPr>
          <p:cNvPr id="11" name="Rounded Rectangle 10"/>
          <p:cNvSpPr/>
          <p:nvPr/>
        </p:nvSpPr>
        <p:spPr>
          <a:xfrm>
            <a:off x="731520" y="5669280"/>
            <a:ext cx="7863840" cy="365760"/>
          </a:xfrm>
          <a:prstGeom prst="roundRect">
            <a:avLst>
              <a:gd name="adj" fmla="val 6000"/>
            </a:avLst>
          </a:prstGeom>
          <a:solidFill>
            <a:srgbClr val="E0E7FF"/>
          </a:solidFill>
          <a:ln w="12700">
            <a:solidFill>
              <a:srgbClr val="6366F1"/>
            </a:solidFill>
          </a:ln>
          <a:effectLst/>
        </p:spPr>
        <p:style>
          <a:lnRef idx="1">
            <a:schemeClr val="accent1"/>
          </a:lnRef>
          <a:fillRef idx="3">
            <a:schemeClr val="accent1"/>
          </a:fillRef>
          <a:effectRef idx="2">
            <a:schemeClr val="accent1"/>
          </a:effectRef>
          <a:fontRef idx="minor">
            <a:schemeClr val="lt1"/>
          </a:fontRef>
        </p:style>
        <p:txBody>
          <a:bodyPr lIns="182880" rtlCol="0" anchor="ctr"/>
          <a:lstStyle/>
          <a:p>
            <a:pPr algn="l">
              <a:spcAft>
                <a:spcPts val="600"/>
              </a:spcAft>
            </a:pPr>
            <a:r>
              <a:rPr sz="1200" b="1" i="0">
                <a:solidFill>
                  <a:srgbClr val="4F46E5"/>
                </a:solidFill>
                <a:latin typeface="Segoe UI"/>
              </a:rPr>
              <a:t>employee</a:t>
            </a:r>
          </a:p>
        </p:txBody>
      </p:sp>
      <p:sp>
        <p:nvSpPr>
          <p:cNvPr id="12" name="Rounded Rectangle 11"/>
          <p:cNvSpPr/>
          <p:nvPr/>
        </p:nvSpPr>
        <p:spPr>
          <a:xfrm>
            <a:off x="731520" y="6080760"/>
            <a:ext cx="9144000" cy="365760"/>
          </a:xfrm>
          <a:prstGeom prst="roundRect">
            <a:avLst>
              <a:gd name="adj" fmla="val 6000"/>
            </a:avLst>
          </a:prstGeom>
          <a:solidFill>
            <a:srgbClr val="E0E7FF"/>
          </a:solidFill>
          <a:ln w="12700">
            <a:solidFill>
              <a:srgbClr val="6366F1"/>
            </a:solidFill>
          </a:ln>
          <a:effectLst/>
        </p:spPr>
        <p:style>
          <a:lnRef idx="1">
            <a:schemeClr val="accent1"/>
          </a:lnRef>
          <a:fillRef idx="3">
            <a:schemeClr val="accent1"/>
          </a:fillRef>
          <a:effectRef idx="2">
            <a:schemeClr val="accent1"/>
          </a:effectRef>
          <a:fontRef idx="minor">
            <a:schemeClr val="lt1"/>
          </a:fontRef>
        </p:style>
        <p:txBody>
          <a:bodyPr lIns="182880" rtlCol="0" anchor="ctr"/>
          <a:lstStyle/>
          <a:p>
            <a:pPr algn="l">
              <a:spcAft>
                <a:spcPts val="600"/>
              </a:spcAft>
            </a:pPr>
            <a:r>
              <a:rPr sz="1200" b="1" i="0">
                <a:solidFill>
                  <a:srgbClr val="4F46E5"/>
                </a:solidFill>
                <a:latin typeface="Segoe UI"/>
              </a:rPr>
              <a:t>former employee</a:t>
            </a:r>
          </a:p>
        </p:txBody>
      </p:sp>
      <p:sp>
        <p:nvSpPr>
          <p:cNvPr id="13" name="TextBox 12"/>
          <p:cNvSpPr txBox="1"/>
          <p:nvPr/>
        </p:nvSpPr>
        <p:spPr>
          <a:xfrm>
            <a:off x="6172200" y="3694176"/>
            <a:ext cx="5521036" cy="261610"/>
          </a:xfrm>
          <a:prstGeom prst="rect">
            <a:avLst/>
          </a:prstGeom>
          <a:noFill/>
        </p:spPr>
        <p:txBody>
          <a:bodyPr wrap="square" anchor="t">
            <a:spAutoFit/>
          </a:bodyPr>
          <a:lstStyle/>
          <a:p>
            <a:pPr algn="l">
              <a:spcAft>
                <a:spcPts val="600"/>
              </a:spcAft>
            </a:pPr>
            <a:r>
              <a:rPr sz="1100" b="0" i="1" dirty="0">
                <a:solidFill>
                  <a:srgbClr val="6366F1"/>
                </a:solidFill>
                <a:latin typeface="Segoe UI"/>
              </a:rPr>
              <a:t>VISUAL:  Role hierarchy pyramid, </a:t>
            </a:r>
            <a:r>
              <a:rPr sz="1100" b="0" i="1" dirty="0" err="1">
                <a:solidFill>
                  <a:srgbClr val="6366F1"/>
                </a:solidFill>
                <a:latin typeface="Segoe UI"/>
              </a:rPr>
              <a:t>superadmin</a:t>
            </a:r>
            <a:r>
              <a:rPr sz="1100" b="0" i="1" dirty="0">
                <a:solidFill>
                  <a:srgbClr val="6366F1"/>
                </a:solidFill>
                <a:latin typeface="Segoe UI"/>
              </a:rPr>
              <a:t> at top narrowing to former employee.</a:t>
            </a:r>
          </a:p>
        </p:txBody>
      </p:sp>
      <p:sp>
        <p:nvSpPr>
          <p:cNvPr id="14" name="TextBox 13"/>
          <p:cNvSpPr txBox="1"/>
          <p:nvPr/>
        </p:nvSpPr>
        <p:spPr>
          <a:xfrm>
            <a:off x="640080" y="6419088"/>
            <a:ext cx="10881360" cy="320040"/>
          </a:xfrm>
          <a:prstGeom prst="rect">
            <a:avLst/>
          </a:prstGeom>
          <a:noFill/>
        </p:spPr>
        <p:txBody>
          <a:bodyPr wrap="square" anchor="t">
            <a:spAutoFit/>
          </a:bodyPr>
          <a:lstStyle/>
          <a:p>
            <a:pPr algn="l">
              <a:spcAft>
                <a:spcPts val="600"/>
              </a:spcAft>
            </a:pPr>
            <a:r>
              <a:rPr sz="900" b="0" i="0">
                <a:solidFill>
                  <a:srgbClr val="94A3B8"/>
                </a:solidFill>
                <a:latin typeface="Segoe UI"/>
              </a:rPr>
              <a:t>Credentia — Confidential</a:t>
            </a:r>
          </a:p>
        </p:txBody>
      </p:sp>
      <p:sp>
        <p:nvSpPr>
          <p:cNvPr id="15" name="TextBox 14"/>
          <p:cNvSpPr txBox="1"/>
          <p:nvPr/>
        </p:nvSpPr>
        <p:spPr>
          <a:xfrm>
            <a:off x="10241280" y="6419088"/>
            <a:ext cx="1280160" cy="320040"/>
          </a:xfrm>
          <a:prstGeom prst="rect">
            <a:avLst/>
          </a:prstGeom>
          <a:noFill/>
        </p:spPr>
        <p:txBody>
          <a:bodyPr wrap="square" anchor="t">
            <a:spAutoFit/>
          </a:bodyPr>
          <a:lstStyle/>
          <a:p>
            <a:pPr algn="r">
              <a:spcAft>
                <a:spcPts val="600"/>
              </a:spcAft>
            </a:pPr>
            <a:r>
              <a:rPr sz="900" b="0" i="0">
                <a:solidFill>
                  <a:srgbClr val="94A3B8"/>
                </a:solidFill>
                <a:latin typeface="Segoe UI"/>
              </a:rPr>
              <a:t>4 / 18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3200400"/>
            <a:ext cx="12191695" cy="54864"/>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2377440"/>
            <a:ext cx="10515600" cy="1828800"/>
          </a:xfrm>
          <a:prstGeom prst="rect">
            <a:avLst/>
          </a:prstGeom>
          <a:noFill/>
        </p:spPr>
        <p:txBody>
          <a:bodyPr wrap="square" anchor="ctr">
            <a:spAutoFit/>
          </a:bodyPr>
          <a:lstStyle/>
          <a:p>
            <a:pPr algn="l">
              <a:spcAft>
                <a:spcPts val="600"/>
              </a:spcAft>
            </a:pPr>
            <a:r>
              <a:rPr sz="4000" b="1" i="0">
                <a:solidFill>
                  <a:srgbClr val="FFFFFF"/>
                </a:solidFill>
                <a:latin typeface="Segoe UI"/>
              </a:rPr>
              <a:t>Part 1 — What We've Built</a:t>
            </a:r>
          </a:p>
          <a:p>
            <a:pPr algn="l">
              <a:spcAft>
                <a:spcPts val="600"/>
              </a:spcAft>
            </a:pPr>
            <a:r>
              <a:rPr sz="2000" b="0" i="0">
                <a:solidFill>
                  <a:srgbClr val="94A3B8"/>
                </a:solidFill>
                <a:latin typeface="Segoe UI"/>
              </a:rPr>
              <a:t>The platform is live. Here's what works today.</a:t>
            </a:r>
          </a:p>
        </p:txBody>
      </p:sp>
      <p:sp>
        <p:nvSpPr>
          <p:cNvPr id="5" name="TextBox 4"/>
          <p:cNvSpPr txBox="1"/>
          <p:nvPr/>
        </p:nvSpPr>
        <p:spPr>
          <a:xfrm>
            <a:off x="640080" y="6419088"/>
            <a:ext cx="10881360" cy="320040"/>
          </a:xfrm>
          <a:prstGeom prst="rect">
            <a:avLst/>
          </a:prstGeom>
          <a:noFill/>
        </p:spPr>
        <p:txBody>
          <a:bodyPr wrap="square" anchor="t">
            <a:spAutoFit/>
          </a:bodyPr>
          <a:lstStyle/>
          <a:p>
            <a:pPr algn="l">
              <a:spcAft>
                <a:spcPts val="600"/>
              </a:spcAft>
            </a:pPr>
            <a:r>
              <a:rPr sz="900" b="0" i="0">
                <a:solidFill>
                  <a:srgbClr val="94A3B8"/>
                </a:solidFill>
                <a:latin typeface="Segoe UI"/>
              </a:rPr>
              <a:t>Credentia — Current Build</a:t>
            </a:r>
          </a:p>
        </p:txBody>
      </p:sp>
      <p:sp>
        <p:nvSpPr>
          <p:cNvPr id="6" name="TextBox 5"/>
          <p:cNvSpPr txBox="1"/>
          <p:nvPr/>
        </p:nvSpPr>
        <p:spPr>
          <a:xfrm>
            <a:off x="10241280" y="6419088"/>
            <a:ext cx="1280160" cy="320040"/>
          </a:xfrm>
          <a:prstGeom prst="rect">
            <a:avLst/>
          </a:prstGeom>
          <a:noFill/>
        </p:spPr>
        <p:txBody>
          <a:bodyPr wrap="square" anchor="t">
            <a:spAutoFit/>
          </a:bodyPr>
          <a:lstStyle/>
          <a:p>
            <a:pPr algn="r">
              <a:spcAft>
                <a:spcPts val="600"/>
              </a:spcAft>
            </a:pPr>
            <a:r>
              <a:rPr sz="900" b="0" i="0">
                <a:solidFill>
                  <a:srgbClr val="94A3B8"/>
                </a:solidFill>
                <a:latin typeface="Segoe UI"/>
              </a:rPr>
              <a:t>5 / 18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502920"/>
            <a:ext cx="10881360" cy="365760"/>
          </a:xfrm>
          <a:prstGeom prst="rect">
            <a:avLst/>
          </a:prstGeom>
          <a:noFill/>
        </p:spPr>
        <p:txBody>
          <a:bodyPr wrap="square" anchor="t">
            <a:spAutoFit/>
          </a:bodyPr>
          <a:lstStyle/>
          <a:p>
            <a:pPr algn="l">
              <a:spcAft>
                <a:spcPts val="600"/>
              </a:spcAft>
            </a:pPr>
            <a:r>
              <a:rPr sz="1300" b="1" i="0">
                <a:solidFill>
                  <a:srgbClr val="6366F1"/>
                </a:solidFill>
                <a:latin typeface="Segoe UI"/>
              </a:rPr>
              <a:t>CURRENT BUILD · FOUNDATION</a:t>
            </a:r>
          </a:p>
        </p:txBody>
      </p:sp>
      <p:sp>
        <p:nvSpPr>
          <p:cNvPr id="5" name="TextBox 4"/>
          <p:cNvSpPr txBox="1"/>
          <p:nvPr/>
        </p:nvSpPr>
        <p:spPr>
          <a:xfrm>
            <a:off x="640080" y="868680"/>
            <a:ext cx="10881360" cy="914400"/>
          </a:xfrm>
          <a:prstGeom prst="rect">
            <a:avLst/>
          </a:prstGeom>
          <a:noFill/>
        </p:spPr>
        <p:txBody>
          <a:bodyPr wrap="square" anchor="t">
            <a:spAutoFit/>
          </a:bodyPr>
          <a:lstStyle/>
          <a:p>
            <a:pPr algn="l">
              <a:spcAft>
                <a:spcPts val="600"/>
              </a:spcAft>
            </a:pPr>
            <a:r>
              <a:rPr sz="3400" b="1" i="0">
                <a:solidFill>
                  <a:srgbClr val="0F172A"/>
                </a:solidFill>
                <a:latin typeface="Segoe UI"/>
              </a:rPr>
              <a:t>Built for enterprise from day one.</a:t>
            </a:r>
          </a:p>
        </p:txBody>
      </p:sp>
      <p:sp>
        <p:nvSpPr>
          <p:cNvPr id="6" name="TextBox 5"/>
          <p:cNvSpPr txBox="1"/>
          <p:nvPr/>
        </p:nvSpPr>
        <p:spPr>
          <a:xfrm>
            <a:off x="731520" y="2011680"/>
            <a:ext cx="10698480" cy="4023360"/>
          </a:xfrm>
          <a:prstGeom prst="rect">
            <a:avLst/>
          </a:prstGeom>
          <a:noFill/>
        </p:spPr>
        <p:txBody>
          <a:bodyPr wrap="square" anchor="t">
            <a:spAutoFit/>
          </a:bodyPr>
          <a:lstStyle/>
          <a:p>
            <a:pPr algn="l">
              <a:spcAft>
                <a:spcPts val="1400"/>
              </a:spcAft>
            </a:pPr>
            <a:r>
              <a:rPr sz="1800" b="0" i="0">
                <a:solidFill>
                  <a:srgbClr val="475569"/>
                </a:solidFill>
                <a:latin typeface="Segoe UI"/>
              </a:rPr>
              <a:t>•   Logically isolated multi-tenancy — org_id + Row Level Security.</a:t>
            </a:r>
          </a:p>
          <a:p>
            <a:pPr algn="l">
              <a:spcAft>
                <a:spcPts val="1400"/>
              </a:spcAft>
            </a:pPr>
            <a:r>
              <a:rPr sz="1800" b="0" i="0">
                <a:solidFill>
                  <a:srgbClr val="475569"/>
                </a:solidFill>
                <a:latin typeface="Segoe UI"/>
              </a:rPr>
              <a:t>•   Tenant lifecycle: provisioning → active → suspended.</a:t>
            </a:r>
          </a:p>
          <a:p>
            <a:pPr algn="l">
              <a:spcAft>
                <a:spcPts val="1400"/>
              </a:spcAft>
            </a:pPr>
            <a:r>
              <a:rPr sz="1800" b="0" i="0">
                <a:solidFill>
                  <a:srgbClr val="475569"/>
                </a:solidFill>
                <a:latin typeface="Segoe UI"/>
              </a:rPr>
              <a:t>•   Forward-compatible dedicated-isolation mode in schema.</a:t>
            </a:r>
          </a:p>
          <a:p>
            <a:pPr algn="l">
              <a:spcAft>
                <a:spcPts val="1400"/>
              </a:spcAft>
            </a:pPr>
            <a:r>
              <a:rPr sz="1800" b="0" i="0">
                <a:solidFill>
                  <a:srgbClr val="475569"/>
                </a:solidFill>
                <a:latin typeface="Segoe UI"/>
              </a:rPr>
              <a:t>•   Tamper-evident, hash-chained audit trail on every action.</a:t>
            </a:r>
          </a:p>
        </p:txBody>
      </p:sp>
      <p:sp>
        <p:nvSpPr>
          <p:cNvPr id="7" name="Rounded Rectangle 6"/>
          <p:cNvSpPr/>
          <p:nvPr/>
        </p:nvSpPr>
        <p:spPr>
          <a:xfrm>
            <a:off x="731520" y="5120640"/>
            <a:ext cx="10698480" cy="640080"/>
          </a:xfrm>
          <a:prstGeom prst="roundRect">
            <a:avLst>
              <a:gd name="adj" fmla="val 6000"/>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lIns="274320" rtlCol="0" anchor="ctr"/>
          <a:lstStyle/>
          <a:p>
            <a:pPr algn="l">
              <a:spcAft>
                <a:spcPts val="600"/>
              </a:spcAft>
            </a:pPr>
            <a:r>
              <a:rPr sz="1300" b="0" i="1">
                <a:solidFill>
                  <a:srgbClr val="926A0A"/>
                </a:solidFill>
                <a:latin typeface="Segoe UI"/>
              </a:rPr>
              <a:t>Verbal note: dedicated-DB isolation is scaffolded, not yet live.</a:t>
            </a:r>
          </a:p>
        </p:txBody>
      </p:sp>
      <p:sp>
        <p:nvSpPr>
          <p:cNvPr id="8" name="TextBox 7"/>
          <p:cNvSpPr txBox="1"/>
          <p:nvPr/>
        </p:nvSpPr>
        <p:spPr>
          <a:xfrm>
            <a:off x="640080" y="6419088"/>
            <a:ext cx="10881360" cy="320040"/>
          </a:xfrm>
          <a:prstGeom prst="rect">
            <a:avLst/>
          </a:prstGeom>
          <a:noFill/>
        </p:spPr>
        <p:txBody>
          <a:bodyPr wrap="square" anchor="t">
            <a:spAutoFit/>
          </a:bodyPr>
          <a:lstStyle/>
          <a:p>
            <a:pPr algn="l">
              <a:spcAft>
                <a:spcPts val="600"/>
              </a:spcAft>
            </a:pPr>
            <a:r>
              <a:rPr sz="900" b="0" i="0">
                <a:solidFill>
                  <a:srgbClr val="94A3B8"/>
                </a:solidFill>
                <a:latin typeface="Segoe UI"/>
              </a:rPr>
              <a:t>Credentia — Confidential</a:t>
            </a:r>
          </a:p>
        </p:txBody>
      </p:sp>
      <p:sp>
        <p:nvSpPr>
          <p:cNvPr id="9" name="TextBox 8"/>
          <p:cNvSpPr txBox="1"/>
          <p:nvPr/>
        </p:nvSpPr>
        <p:spPr>
          <a:xfrm>
            <a:off x="10241280" y="6419088"/>
            <a:ext cx="1280160" cy="320040"/>
          </a:xfrm>
          <a:prstGeom prst="rect">
            <a:avLst/>
          </a:prstGeom>
          <a:noFill/>
        </p:spPr>
        <p:txBody>
          <a:bodyPr wrap="square" anchor="t">
            <a:spAutoFit/>
          </a:bodyPr>
          <a:lstStyle/>
          <a:p>
            <a:pPr algn="r">
              <a:spcAft>
                <a:spcPts val="600"/>
              </a:spcAft>
            </a:pPr>
            <a:r>
              <a:rPr sz="900" b="0" i="0">
                <a:solidFill>
                  <a:srgbClr val="94A3B8"/>
                </a:solidFill>
                <a:latin typeface="Segoe UI"/>
              </a:rPr>
              <a:t>6 / 18</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502920"/>
            <a:ext cx="10881360" cy="365760"/>
          </a:xfrm>
          <a:prstGeom prst="rect">
            <a:avLst/>
          </a:prstGeom>
          <a:noFill/>
        </p:spPr>
        <p:txBody>
          <a:bodyPr wrap="square" anchor="t">
            <a:spAutoFit/>
          </a:bodyPr>
          <a:lstStyle/>
          <a:p>
            <a:pPr algn="l">
              <a:spcAft>
                <a:spcPts val="600"/>
              </a:spcAft>
            </a:pPr>
            <a:r>
              <a:rPr sz="1300" b="1" i="0">
                <a:solidFill>
                  <a:srgbClr val="3B82F6"/>
                </a:solidFill>
                <a:latin typeface="Segoe UI"/>
              </a:rPr>
              <a:t>CURRENT BUILD · CORE DIFFERENTIATOR</a:t>
            </a:r>
          </a:p>
        </p:txBody>
      </p:sp>
      <p:sp>
        <p:nvSpPr>
          <p:cNvPr id="5" name="TextBox 4"/>
          <p:cNvSpPr txBox="1"/>
          <p:nvPr/>
        </p:nvSpPr>
        <p:spPr>
          <a:xfrm>
            <a:off x="640080" y="868680"/>
            <a:ext cx="10881360" cy="914400"/>
          </a:xfrm>
          <a:prstGeom prst="rect">
            <a:avLst/>
          </a:prstGeom>
          <a:noFill/>
        </p:spPr>
        <p:txBody>
          <a:bodyPr wrap="square" anchor="t">
            <a:spAutoFit/>
          </a:bodyPr>
          <a:lstStyle/>
          <a:p>
            <a:pPr algn="l">
              <a:spcAft>
                <a:spcPts val="600"/>
              </a:spcAft>
            </a:pPr>
            <a:r>
              <a:rPr sz="3400" b="1" i="0">
                <a:solidFill>
                  <a:srgbClr val="0F172A"/>
                </a:solidFill>
                <a:latin typeface="Segoe UI"/>
              </a:rPr>
              <a:t>Trust, made provable.</a:t>
            </a:r>
          </a:p>
        </p:txBody>
      </p:sp>
      <p:sp>
        <p:nvSpPr>
          <p:cNvPr id="6" name="TextBox 5"/>
          <p:cNvSpPr txBox="1"/>
          <p:nvPr/>
        </p:nvSpPr>
        <p:spPr>
          <a:xfrm>
            <a:off x="731520" y="1920240"/>
            <a:ext cx="10698480" cy="4023360"/>
          </a:xfrm>
          <a:prstGeom prst="rect">
            <a:avLst/>
          </a:prstGeom>
          <a:noFill/>
        </p:spPr>
        <p:txBody>
          <a:bodyPr wrap="square" anchor="t">
            <a:spAutoFit/>
          </a:bodyPr>
          <a:lstStyle/>
          <a:p>
            <a:pPr algn="l">
              <a:spcAft>
                <a:spcPts val="1400"/>
              </a:spcAft>
            </a:pPr>
            <a:r>
              <a:rPr sz="1900" b="0" i="0">
                <a:solidFill>
                  <a:srgbClr val="475569"/>
                </a:solidFill>
                <a:latin typeface="Segoe UI"/>
              </a:rPr>
              <a:t>•   5-level verification ladder — self (L1) → multi-source (L5).</a:t>
            </a:r>
          </a:p>
          <a:p>
            <a:pPr algn="l">
              <a:spcAft>
                <a:spcPts val="1400"/>
              </a:spcAft>
            </a:pPr>
            <a:r>
              <a:rPr sz="1900" b="0" i="0">
                <a:solidFill>
                  <a:srgbClr val="475569"/>
                </a:solidFill>
                <a:latin typeface="Segoe UI"/>
              </a:rPr>
              <a:t>•   Records freeze on departure — immutable, tamper-proof.</a:t>
            </a:r>
          </a:p>
          <a:p>
            <a:pPr algn="l">
              <a:spcAft>
                <a:spcPts val="1400"/>
              </a:spcAft>
            </a:pPr>
            <a:r>
              <a:rPr sz="1900" b="0" i="0">
                <a:solidFill>
                  <a:srgbClr val="475569"/>
                </a:solidFill>
                <a:latin typeface="Segoe UI"/>
              </a:rPr>
              <a:t>•   Verified vs. AI separation enforced end-to-end.</a:t>
            </a:r>
          </a:p>
        </p:txBody>
      </p:sp>
      <p:sp>
        <p:nvSpPr>
          <p:cNvPr id="7" name="Rounded Rectangle 6"/>
          <p:cNvSpPr/>
          <p:nvPr/>
        </p:nvSpPr>
        <p:spPr>
          <a:xfrm>
            <a:off x="731520" y="4206240"/>
            <a:ext cx="1965960" cy="777240"/>
          </a:xfrm>
          <a:prstGeom prst="roundRect">
            <a:avLst>
              <a:gd name="adj" fmla="val 6000"/>
            </a:avLst>
          </a:prstGeom>
          <a:solidFill>
            <a:srgbClr val="BFDBFE"/>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200" b="1" i="0">
                <a:solidFill>
                  <a:srgbClr val="3B82F6"/>
                </a:solidFill>
                <a:latin typeface="Segoe UI"/>
              </a:rPr>
              <a:t>L1 Self</a:t>
            </a:r>
          </a:p>
        </p:txBody>
      </p:sp>
      <p:sp>
        <p:nvSpPr>
          <p:cNvPr id="8" name="Rounded Rectangle 7"/>
          <p:cNvSpPr/>
          <p:nvPr/>
        </p:nvSpPr>
        <p:spPr>
          <a:xfrm>
            <a:off x="2880360" y="4206240"/>
            <a:ext cx="1965960" cy="777240"/>
          </a:xfrm>
          <a:prstGeom prst="roundRect">
            <a:avLst>
              <a:gd name="adj" fmla="val 6000"/>
            </a:avLst>
          </a:prstGeom>
          <a:solidFill>
            <a:srgbClr val="3B82F6"/>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200" b="1" i="0">
                <a:solidFill>
                  <a:srgbClr val="FFFFFF"/>
                </a:solidFill>
                <a:latin typeface="Segoe UI"/>
              </a:rPr>
              <a:t>L2 Manager</a:t>
            </a:r>
          </a:p>
        </p:txBody>
      </p:sp>
      <p:sp>
        <p:nvSpPr>
          <p:cNvPr id="9" name="Rounded Rectangle 8"/>
          <p:cNvSpPr/>
          <p:nvPr/>
        </p:nvSpPr>
        <p:spPr>
          <a:xfrm>
            <a:off x="5029200" y="4206240"/>
            <a:ext cx="1965960" cy="777240"/>
          </a:xfrm>
          <a:prstGeom prst="roundRect">
            <a:avLst>
              <a:gd name="adj" fmla="val 6000"/>
            </a:avLst>
          </a:prstGeom>
          <a:solidFill>
            <a:srgbClr val="3B82F6"/>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200" b="1" i="0">
                <a:solidFill>
                  <a:srgbClr val="FFFFFF"/>
                </a:solidFill>
                <a:latin typeface="Segoe UI"/>
              </a:rPr>
              <a:t>L3 HR</a:t>
            </a:r>
          </a:p>
        </p:txBody>
      </p:sp>
      <p:sp>
        <p:nvSpPr>
          <p:cNvPr id="10" name="Rounded Rectangle 9"/>
          <p:cNvSpPr/>
          <p:nvPr/>
        </p:nvSpPr>
        <p:spPr>
          <a:xfrm>
            <a:off x="7178040" y="4206240"/>
            <a:ext cx="1965960" cy="777240"/>
          </a:xfrm>
          <a:prstGeom prst="roundRect">
            <a:avLst>
              <a:gd name="adj" fmla="val 6000"/>
            </a:avLst>
          </a:prstGeom>
          <a:solidFill>
            <a:srgbClr val="3B82F6"/>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200" b="1" i="0">
                <a:solidFill>
                  <a:srgbClr val="FFFFFF"/>
                </a:solidFill>
                <a:latin typeface="Segoe UI"/>
              </a:rPr>
              <a:t>L4 Company</a:t>
            </a:r>
          </a:p>
        </p:txBody>
      </p:sp>
      <p:sp>
        <p:nvSpPr>
          <p:cNvPr id="11" name="Rounded Rectangle 10"/>
          <p:cNvSpPr/>
          <p:nvPr/>
        </p:nvSpPr>
        <p:spPr>
          <a:xfrm>
            <a:off x="9326880" y="4206240"/>
            <a:ext cx="1965960" cy="777240"/>
          </a:xfrm>
          <a:prstGeom prst="roundRect">
            <a:avLst>
              <a:gd name="adj" fmla="val 6000"/>
            </a:avLst>
          </a:prstGeom>
          <a:solidFill>
            <a:srgbClr val="3B82F6"/>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200" b="1" i="0">
                <a:solidFill>
                  <a:srgbClr val="FFFFFF"/>
                </a:solidFill>
                <a:latin typeface="Segoe UI"/>
              </a:rPr>
              <a:t>L5 Multi-source</a:t>
            </a:r>
          </a:p>
        </p:txBody>
      </p:sp>
      <p:sp>
        <p:nvSpPr>
          <p:cNvPr id="12" name="TextBox 11"/>
          <p:cNvSpPr txBox="1"/>
          <p:nvPr/>
        </p:nvSpPr>
        <p:spPr>
          <a:xfrm>
            <a:off x="731520" y="5806440"/>
            <a:ext cx="10698480" cy="548640"/>
          </a:xfrm>
          <a:prstGeom prst="rect">
            <a:avLst/>
          </a:prstGeom>
          <a:noFill/>
        </p:spPr>
        <p:txBody>
          <a:bodyPr wrap="square" anchor="t">
            <a:spAutoFit/>
          </a:bodyPr>
          <a:lstStyle/>
          <a:p>
            <a:pPr algn="l">
              <a:spcAft>
                <a:spcPts val="600"/>
              </a:spcAft>
            </a:pPr>
            <a:r>
              <a:rPr sz="1100" b="0" i="1">
                <a:solidFill>
                  <a:srgbClr val="6366F1"/>
                </a:solidFill>
                <a:latin typeface="Segoe UI"/>
              </a:rPr>
              <a:t>VISUAL:  Verification level badges L1–L5 + a frozen-record lock icon.</a:t>
            </a:r>
          </a:p>
        </p:txBody>
      </p:sp>
      <p:sp>
        <p:nvSpPr>
          <p:cNvPr id="13" name="TextBox 12"/>
          <p:cNvSpPr txBox="1"/>
          <p:nvPr/>
        </p:nvSpPr>
        <p:spPr>
          <a:xfrm>
            <a:off x="640080" y="6419088"/>
            <a:ext cx="10881360" cy="320040"/>
          </a:xfrm>
          <a:prstGeom prst="rect">
            <a:avLst/>
          </a:prstGeom>
          <a:noFill/>
        </p:spPr>
        <p:txBody>
          <a:bodyPr wrap="square" anchor="t">
            <a:spAutoFit/>
          </a:bodyPr>
          <a:lstStyle/>
          <a:p>
            <a:pPr algn="l">
              <a:spcAft>
                <a:spcPts val="600"/>
              </a:spcAft>
            </a:pPr>
            <a:r>
              <a:rPr sz="900" b="0" i="0">
                <a:solidFill>
                  <a:srgbClr val="94A3B8"/>
                </a:solidFill>
                <a:latin typeface="Segoe UI"/>
              </a:rPr>
              <a:t>Credentia — Confidential</a:t>
            </a:r>
          </a:p>
        </p:txBody>
      </p:sp>
      <p:sp>
        <p:nvSpPr>
          <p:cNvPr id="14" name="TextBox 13"/>
          <p:cNvSpPr txBox="1"/>
          <p:nvPr/>
        </p:nvSpPr>
        <p:spPr>
          <a:xfrm>
            <a:off x="10241280" y="6419088"/>
            <a:ext cx="1280160" cy="320040"/>
          </a:xfrm>
          <a:prstGeom prst="rect">
            <a:avLst/>
          </a:prstGeom>
          <a:noFill/>
        </p:spPr>
        <p:txBody>
          <a:bodyPr wrap="square" anchor="t">
            <a:spAutoFit/>
          </a:bodyPr>
          <a:lstStyle/>
          <a:p>
            <a:pPr algn="r">
              <a:spcAft>
                <a:spcPts val="600"/>
              </a:spcAft>
            </a:pPr>
            <a:r>
              <a:rPr sz="900" b="0" i="0">
                <a:solidFill>
                  <a:srgbClr val="94A3B8"/>
                </a:solidFill>
                <a:latin typeface="Segoe UI"/>
              </a:rPr>
              <a:t>7 / 18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502920"/>
            <a:ext cx="10881360" cy="365760"/>
          </a:xfrm>
          <a:prstGeom prst="rect">
            <a:avLst/>
          </a:prstGeom>
          <a:noFill/>
        </p:spPr>
        <p:txBody>
          <a:bodyPr wrap="square" anchor="t">
            <a:spAutoFit/>
          </a:bodyPr>
          <a:lstStyle/>
          <a:p>
            <a:pPr algn="l">
              <a:spcAft>
                <a:spcPts val="600"/>
              </a:spcAft>
            </a:pPr>
            <a:r>
              <a:rPr sz="1300" b="1" i="0">
                <a:solidFill>
                  <a:srgbClr val="6366F1"/>
                </a:solidFill>
                <a:latin typeface="Segoe UI"/>
              </a:rPr>
              <a:t>CURRENT BUILD · LIVE DEMO</a:t>
            </a:r>
          </a:p>
        </p:txBody>
      </p:sp>
      <p:sp>
        <p:nvSpPr>
          <p:cNvPr id="5" name="TextBox 4"/>
          <p:cNvSpPr txBox="1"/>
          <p:nvPr/>
        </p:nvSpPr>
        <p:spPr>
          <a:xfrm>
            <a:off x="640080" y="868680"/>
            <a:ext cx="10881360" cy="914400"/>
          </a:xfrm>
          <a:prstGeom prst="rect">
            <a:avLst/>
          </a:prstGeom>
          <a:noFill/>
        </p:spPr>
        <p:txBody>
          <a:bodyPr wrap="square" anchor="t">
            <a:spAutoFit/>
          </a:bodyPr>
          <a:lstStyle/>
          <a:p>
            <a:pPr algn="l">
              <a:spcAft>
                <a:spcPts val="600"/>
              </a:spcAft>
            </a:pPr>
            <a:r>
              <a:rPr sz="3400" b="1" i="0">
                <a:solidFill>
                  <a:srgbClr val="0F172A"/>
                </a:solidFill>
                <a:latin typeface="Segoe UI"/>
              </a:rPr>
              <a:t>Daily work becomes a verified record.</a:t>
            </a:r>
          </a:p>
        </p:txBody>
      </p:sp>
      <p:sp>
        <p:nvSpPr>
          <p:cNvPr id="6" name="TextBox 5"/>
          <p:cNvSpPr txBox="1"/>
          <p:nvPr/>
        </p:nvSpPr>
        <p:spPr>
          <a:xfrm>
            <a:off x="731520" y="2011680"/>
            <a:ext cx="10698480" cy="4023360"/>
          </a:xfrm>
          <a:prstGeom prst="rect">
            <a:avLst/>
          </a:prstGeom>
          <a:noFill/>
        </p:spPr>
        <p:txBody>
          <a:bodyPr wrap="square" anchor="t">
            <a:spAutoFit/>
          </a:bodyPr>
          <a:lstStyle/>
          <a:p>
            <a:pPr algn="l">
              <a:spcAft>
                <a:spcPts val="1300"/>
              </a:spcAft>
            </a:pPr>
            <a:r>
              <a:rPr sz="1800" b="0" i="0">
                <a:solidFill>
                  <a:srgbClr val="475569"/>
                </a:solidFill>
                <a:latin typeface="Segoe UI"/>
              </a:rPr>
              <a:t>•   Employee: Achievement Vault · KPIs · Projects · Daily Pulse.</a:t>
            </a:r>
          </a:p>
          <a:p>
            <a:pPr algn="l">
              <a:spcAft>
                <a:spcPts val="1300"/>
              </a:spcAft>
            </a:pPr>
            <a:r>
              <a:rPr sz="1800" b="0" i="0">
                <a:solidFill>
                  <a:srgbClr val="475569"/>
                </a:solidFill>
                <a:latin typeface="Segoe UI"/>
              </a:rPr>
              <a:t>•   Manager: swipe-to-verify deck — right approve, left deny, up clarify.</a:t>
            </a:r>
          </a:p>
          <a:p>
            <a:pPr algn="l">
              <a:spcAft>
                <a:spcPts val="1300"/>
              </a:spcAft>
            </a:pPr>
            <a:r>
              <a:rPr sz="1800" b="0" i="0">
                <a:solidFill>
                  <a:srgbClr val="475569"/>
                </a:solidFill>
                <a:latin typeface="Segoe UI"/>
              </a:rPr>
              <a:t>•   Smart task delegation tied to Strategic Pillars.</a:t>
            </a:r>
          </a:p>
          <a:p>
            <a:pPr algn="l">
              <a:spcAft>
                <a:spcPts val="1300"/>
              </a:spcAft>
            </a:pPr>
            <a:r>
              <a:rPr sz="1800" b="0" i="0">
                <a:solidFill>
                  <a:srgbClr val="475569"/>
                </a:solidFill>
                <a:latin typeface="Segoe UI"/>
              </a:rPr>
              <a:t>•   Promote a completed task to a Manager-Verified achievement in one tap.</a:t>
            </a:r>
          </a:p>
        </p:txBody>
      </p:sp>
      <p:sp>
        <p:nvSpPr>
          <p:cNvPr id="7" name="Rounded Rectangle 6"/>
          <p:cNvSpPr/>
          <p:nvPr/>
        </p:nvSpPr>
        <p:spPr>
          <a:xfrm>
            <a:off x="731520" y="5074920"/>
            <a:ext cx="10698480" cy="685800"/>
          </a:xfrm>
          <a:prstGeom prst="roundRect">
            <a:avLst>
              <a:gd name="adj" fmla="val 6000"/>
            </a:avLst>
          </a:prstGeom>
          <a:solidFill>
            <a:srgbClr val="EEF2FF"/>
          </a:solidFill>
          <a:ln w="12700">
            <a:solidFill>
              <a:srgbClr val="6366F1"/>
            </a:solidFill>
          </a:ln>
          <a:effectLst/>
        </p:spPr>
        <p:style>
          <a:lnRef idx="1">
            <a:schemeClr val="accent1"/>
          </a:lnRef>
          <a:fillRef idx="3">
            <a:schemeClr val="accent1"/>
          </a:fillRef>
          <a:effectRef idx="2">
            <a:schemeClr val="accent1"/>
          </a:effectRef>
          <a:fontRef idx="minor">
            <a:schemeClr val="lt1"/>
          </a:fontRef>
        </p:style>
        <p:txBody>
          <a:bodyPr lIns="274320" rtlCol="0" anchor="ctr"/>
          <a:lstStyle/>
          <a:p>
            <a:pPr algn="l">
              <a:spcAft>
                <a:spcPts val="600"/>
              </a:spcAft>
            </a:pPr>
            <a:r>
              <a:rPr sz="1400" b="1" i="0">
                <a:solidFill>
                  <a:srgbClr val="4F46E5"/>
                </a:solidFill>
                <a:latin typeface="Segoe UI"/>
              </a:rPr>
              <a:t>▶  LIVE DEMO: screen-record the swipe deck — this is the 'wow' moment.</a:t>
            </a:r>
          </a:p>
        </p:txBody>
      </p:sp>
      <p:sp>
        <p:nvSpPr>
          <p:cNvPr id="8" name="TextBox 7"/>
          <p:cNvSpPr txBox="1"/>
          <p:nvPr/>
        </p:nvSpPr>
        <p:spPr>
          <a:xfrm>
            <a:off x="640080" y="6419088"/>
            <a:ext cx="10881360" cy="320040"/>
          </a:xfrm>
          <a:prstGeom prst="rect">
            <a:avLst/>
          </a:prstGeom>
          <a:noFill/>
        </p:spPr>
        <p:txBody>
          <a:bodyPr wrap="square" anchor="t">
            <a:spAutoFit/>
          </a:bodyPr>
          <a:lstStyle/>
          <a:p>
            <a:pPr algn="l">
              <a:spcAft>
                <a:spcPts val="600"/>
              </a:spcAft>
            </a:pPr>
            <a:r>
              <a:rPr sz="900" b="0" i="0">
                <a:solidFill>
                  <a:srgbClr val="94A3B8"/>
                </a:solidFill>
                <a:latin typeface="Segoe UI"/>
              </a:rPr>
              <a:t>Credentia — Confidential</a:t>
            </a:r>
          </a:p>
        </p:txBody>
      </p:sp>
      <p:sp>
        <p:nvSpPr>
          <p:cNvPr id="9" name="TextBox 8"/>
          <p:cNvSpPr txBox="1"/>
          <p:nvPr/>
        </p:nvSpPr>
        <p:spPr>
          <a:xfrm>
            <a:off x="10241280" y="6419088"/>
            <a:ext cx="1280160" cy="320040"/>
          </a:xfrm>
          <a:prstGeom prst="rect">
            <a:avLst/>
          </a:prstGeom>
          <a:noFill/>
        </p:spPr>
        <p:txBody>
          <a:bodyPr wrap="square" anchor="t">
            <a:spAutoFit/>
          </a:bodyPr>
          <a:lstStyle/>
          <a:p>
            <a:pPr algn="r">
              <a:spcAft>
                <a:spcPts val="600"/>
              </a:spcAft>
            </a:pPr>
            <a:r>
              <a:rPr sz="900" b="0" i="0">
                <a:solidFill>
                  <a:srgbClr val="94A3B8"/>
                </a:solidFill>
                <a:latin typeface="Segoe UI"/>
              </a:rPr>
              <a:t>8 / 18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502920"/>
            <a:ext cx="10881360" cy="365760"/>
          </a:xfrm>
          <a:prstGeom prst="rect">
            <a:avLst/>
          </a:prstGeom>
          <a:noFill/>
        </p:spPr>
        <p:txBody>
          <a:bodyPr wrap="square" anchor="t">
            <a:spAutoFit/>
          </a:bodyPr>
          <a:lstStyle/>
          <a:p>
            <a:pPr algn="l">
              <a:spcAft>
                <a:spcPts val="600"/>
              </a:spcAft>
            </a:pPr>
            <a:r>
              <a:rPr sz="1300" b="1" i="0">
                <a:solidFill>
                  <a:srgbClr val="6366F1"/>
                </a:solidFill>
                <a:latin typeface="Segoe UI"/>
              </a:rPr>
              <a:t>CURRENT BUILD · LIVE DEMO</a:t>
            </a:r>
          </a:p>
        </p:txBody>
      </p:sp>
      <p:sp>
        <p:nvSpPr>
          <p:cNvPr id="5" name="TextBox 4"/>
          <p:cNvSpPr txBox="1"/>
          <p:nvPr/>
        </p:nvSpPr>
        <p:spPr>
          <a:xfrm>
            <a:off x="640080" y="868680"/>
            <a:ext cx="10881360" cy="914400"/>
          </a:xfrm>
          <a:prstGeom prst="rect">
            <a:avLst/>
          </a:prstGeom>
          <a:noFill/>
        </p:spPr>
        <p:txBody>
          <a:bodyPr wrap="square" anchor="t">
            <a:spAutoFit/>
          </a:bodyPr>
          <a:lstStyle/>
          <a:p>
            <a:pPr algn="l">
              <a:spcAft>
                <a:spcPts val="600"/>
              </a:spcAft>
            </a:pPr>
            <a:r>
              <a:rPr sz="3400" b="1" i="0">
                <a:solidFill>
                  <a:srgbClr val="0F172A"/>
                </a:solidFill>
                <a:latin typeface="Segoe UI"/>
              </a:rPr>
              <a:t>The whole org, at a glance.</a:t>
            </a:r>
          </a:p>
        </p:txBody>
      </p:sp>
      <p:sp>
        <p:nvSpPr>
          <p:cNvPr id="6" name="TextBox 5"/>
          <p:cNvSpPr txBox="1"/>
          <p:nvPr/>
        </p:nvSpPr>
        <p:spPr>
          <a:xfrm>
            <a:off x="731520" y="2011680"/>
            <a:ext cx="10698480" cy="4023360"/>
          </a:xfrm>
          <a:prstGeom prst="rect">
            <a:avLst/>
          </a:prstGeom>
          <a:noFill/>
        </p:spPr>
        <p:txBody>
          <a:bodyPr wrap="square" anchor="t">
            <a:spAutoFit/>
          </a:bodyPr>
          <a:lstStyle/>
          <a:p>
            <a:pPr algn="l">
              <a:spcAft>
                <a:spcPts val="1300"/>
              </a:spcAft>
            </a:pPr>
            <a:r>
              <a:rPr sz="1800" b="0" i="0">
                <a:solidFill>
                  <a:srgbClr val="475569"/>
                </a:solidFill>
                <a:latin typeface="Segoe UI"/>
              </a:rPr>
              <a:t>•   Command center: health · productivity · morale · retention · innovation.</a:t>
            </a:r>
          </a:p>
          <a:p>
            <a:pPr algn="l">
              <a:spcAft>
                <a:spcPts val="1300"/>
              </a:spcAft>
            </a:pPr>
            <a:r>
              <a:rPr sz="1800" b="0" i="0">
                <a:solidFill>
                  <a:srgbClr val="475569"/>
                </a:solidFill>
                <a:latin typeface="Segoe UI"/>
              </a:rPr>
              <a:t>•   Interactive d3 org mind-map with department drill-down.</a:t>
            </a:r>
          </a:p>
          <a:p>
            <a:pPr algn="l">
              <a:spcAft>
                <a:spcPts val="1300"/>
              </a:spcAft>
            </a:pPr>
            <a:r>
              <a:rPr sz="1800" b="0" i="0">
                <a:solidFill>
                  <a:srgbClr val="475569"/>
                </a:solidFill>
                <a:latin typeface="Segoe UI"/>
              </a:rPr>
              <a:t>•   Executive approval queue for high-value achievements.</a:t>
            </a:r>
          </a:p>
          <a:p>
            <a:pPr algn="l">
              <a:spcAft>
                <a:spcPts val="1300"/>
              </a:spcAft>
            </a:pPr>
            <a:r>
              <a:rPr sz="1800" b="0" i="0">
                <a:solidFill>
                  <a:srgbClr val="475569"/>
                </a:solidFill>
                <a:latin typeface="Segoe UI"/>
              </a:rPr>
              <a:t>•   Everything here is built only from human-verified facts.</a:t>
            </a:r>
          </a:p>
        </p:txBody>
      </p:sp>
      <p:sp>
        <p:nvSpPr>
          <p:cNvPr id="7" name="Rounded Rectangle 6"/>
          <p:cNvSpPr/>
          <p:nvPr/>
        </p:nvSpPr>
        <p:spPr>
          <a:xfrm>
            <a:off x="731520" y="5074920"/>
            <a:ext cx="10698480" cy="685800"/>
          </a:xfrm>
          <a:prstGeom prst="roundRect">
            <a:avLst>
              <a:gd name="adj" fmla="val 6000"/>
            </a:avLst>
          </a:prstGeom>
          <a:solidFill>
            <a:srgbClr val="EEF2FF"/>
          </a:solidFill>
          <a:ln w="12700">
            <a:solidFill>
              <a:srgbClr val="6366F1"/>
            </a:solidFill>
          </a:ln>
          <a:effectLst/>
        </p:spPr>
        <p:style>
          <a:lnRef idx="1">
            <a:schemeClr val="accent1"/>
          </a:lnRef>
          <a:fillRef idx="3">
            <a:schemeClr val="accent1"/>
          </a:fillRef>
          <a:effectRef idx="2">
            <a:schemeClr val="accent1"/>
          </a:effectRef>
          <a:fontRef idx="minor">
            <a:schemeClr val="lt1"/>
          </a:fontRef>
        </p:style>
        <p:txBody>
          <a:bodyPr lIns="274320" rtlCol="0" anchor="ctr"/>
          <a:lstStyle/>
          <a:p>
            <a:pPr algn="l">
              <a:spcAft>
                <a:spcPts val="600"/>
              </a:spcAft>
            </a:pPr>
            <a:r>
              <a:rPr sz="1400" b="1" i="0">
                <a:solidFill>
                  <a:srgbClr val="4F46E5"/>
                </a:solidFill>
                <a:latin typeface="Segoe UI"/>
              </a:rPr>
              <a:t>▶  LIVE DEMO: open the radial org mind-map and drill into a department.</a:t>
            </a:r>
          </a:p>
        </p:txBody>
      </p:sp>
      <p:sp>
        <p:nvSpPr>
          <p:cNvPr id="8" name="TextBox 7"/>
          <p:cNvSpPr txBox="1"/>
          <p:nvPr/>
        </p:nvSpPr>
        <p:spPr>
          <a:xfrm>
            <a:off x="640080" y="6419088"/>
            <a:ext cx="10881360" cy="320040"/>
          </a:xfrm>
          <a:prstGeom prst="rect">
            <a:avLst/>
          </a:prstGeom>
          <a:noFill/>
        </p:spPr>
        <p:txBody>
          <a:bodyPr wrap="square" anchor="t">
            <a:spAutoFit/>
          </a:bodyPr>
          <a:lstStyle/>
          <a:p>
            <a:pPr algn="l">
              <a:spcAft>
                <a:spcPts val="600"/>
              </a:spcAft>
            </a:pPr>
            <a:r>
              <a:rPr sz="900" b="0" i="0">
                <a:solidFill>
                  <a:srgbClr val="94A3B8"/>
                </a:solidFill>
                <a:latin typeface="Segoe UI"/>
              </a:rPr>
              <a:t>Credentia — Confidential</a:t>
            </a:r>
          </a:p>
        </p:txBody>
      </p:sp>
      <p:sp>
        <p:nvSpPr>
          <p:cNvPr id="9" name="TextBox 8"/>
          <p:cNvSpPr txBox="1"/>
          <p:nvPr/>
        </p:nvSpPr>
        <p:spPr>
          <a:xfrm>
            <a:off x="10241280" y="6419088"/>
            <a:ext cx="1280160" cy="320040"/>
          </a:xfrm>
          <a:prstGeom prst="rect">
            <a:avLst/>
          </a:prstGeom>
          <a:noFill/>
        </p:spPr>
        <p:txBody>
          <a:bodyPr wrap="square" anchor="t">
            <a:spAutoFit/>
          </a:bodyPr>
          <a:lstStyle/>
          <a:p>
            <a:pPr algn="r">
              <a:spcAft>
                <a:spcPts val="600"/>
              </a:spcAft>
            </a:pPr>
            <a:r>
              <a:rPr sz="900" b="0" i="0">
                <a:solidFill>
                  <a:srgbClr val="94A3B8"/>
                </a:solidFill>
                <a:latin typeface="Segoe UI"/>
              </a:rPr>
              <a:t>9 / 18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502920"/>
            <a:ext cx="10881360" cy="365760"/>
          </a:xfrm>
          <a:prstGeom prst="rect">
            <a:avLst/>
          </a:prstGeom>
          <a:noFill/>
        </p:spPr>
        <p:txBody>
          <a:bodyPr wrap="square" anchor="t">
            <a:spAutoFit/>
          </a:bodyPr>
          <a:lstStyle/>
          <a:p>
            <a:pPr algn="l">
              <a:spcAft>
                <a:spcPts val="600"/>
              </a:spcAft>
            </a:pPr>
            <a:r>
              <a:rPr sz="1300" b="1" i="0">
                <a:solidFill>
                  <a:srgbClr val="F59E0B"/>
                </a:solidFill>
                <a:latin typeface="Segoe UI"/>
              </a:rPr>
              <a:t>CURRENT BUILD · AI LAYER</a:t>
            </a:r>
          </a:p>
        </p:txBody>
      </p:sp>
      <p:sp>
        <p:nvSpPr>
          <p:cNvPr id="5" name="TextBox 4"/>
          <p:cNvSpPr txBox="1"/>
          <p:nvPr/>
        </p:nvSpPr>
        <p:spPr>
          <a:xfrm>
            <a:off x="640080" y="868680"/>
            <a:ext cx="10881360" cy="914400"/>
          </a:xfrm>
          <a:prstGeom prst="rect">
            <a:avLst/>
          </a:prstGeom>
          <a:noFill/>
        </p:spPr>
        <p:txBody>
          <a:bodyPr wrap="square" anchor="t">
            <a:spAutoFit/>
          </a:bodyPr>
          <a:lstStyle/>
          <a:p>
            <a:pPr algn="l">
              <a:spcAft>
                <a:spcPts val="600"/>
              </a:spcAft>
            </a:pPr>
            <a:r>
              <a:rPr sz="3400" b="1" i="0">
                <a:solidFill>
                  <a:srgbClr val="0F172A"/>
                </a:solidFill>
                <a:latin typeface="Segoe UI"/>
              </a:rPr>
              <a:t>AI that earns trust — labeled, never deciding.</a:t>
            </a:r>
          </a:p>
        </p:txBody>
      </p:sp>
      <p:sp>
        <p:nvSpPr>
          <p:cNvPr id="6" name="TextBox 5"/>
          <p:cNvSpPr txBox="1"/>
          <p:nvPr/>
        </p:nvSpPr>
        <p:spPr>
          <a:xfrm>
            <a:off x="731520" y="2011680"/>
            <a:ext cx="10698480" cy="4023360"/>
          </a:xfrm>
          <a:prstGeom prst="rect">
            <a:avLst/>
          </a:prstGeom>
          <a:noFill/>
        </p:spPr>
        <p:txBody>
          <a:bodyPr wrap="square" anchor="t">
            <a:spAutoFit/>
          </a:bodyPr>
          <a:lstStyle/>
          <a:p>
            <a:pPr algn="l">
              <a:spcAft>
                <a:spcPts val="1300"/>
              </a:spcAft>
            </a:pPr>
            <a:r>
              <a:rPr sz="1800" b="0" i="0">
                <a:solidFill>
                  <a:srgbClr val="475569"/>
                </a:solidFill>
                <a:latin typeface="Segoe UI"/>
              </a:rPr>
              <a:t>•   Hybrid engine: code computes the numbers, AI writes the narrative.</a:t>
            </a:r>
          </a:p>
          <a:p>
            <a:pPr algn="l">
              <a:spcAft>
                <a:spcPts val="1300"/>
              </a:spcAft>
            </a:pPr>
            <a:r>
              <a:rPr sz="1800" b="0" i="0">
                <a:solidFill>
                  <a:srgbClr val="475569"/>
                </a:solidFill>
                <a:latin typeface="Segoe UI"/>
              </a:rPr>
              <a:t>•   Compensation ranges · Value Score (0–1000) · Promotion Readiness.</a:t>
            </a:r>
          </a:p>
          <a:p>
            <a:pPr algn="l">
              <a:spcAft>
                <a:spcPts val="1300"/>
              </a:spcAft>
            </a:pPr>
            <a:r>
              <a:rPr sz="1800" b="0" i="0">
                <a:solidFill>
                  <a:srgbClr val="475569"/>
                </a:solidFill>
                <a:latin typeface="Segoe UI"/>
              </a:rPr>
              <a:t>•   Retention flags — aggregate only, never names a person.</a:t>
            </a:r>
          </a:p>
          <a:p>
            <a:pPr algn="l">
              <a:spcAft>
                <a:spcPts val="1300"/>
              </a:spcAft>
            </a:pPr>
            <a:r>
              <a:rPr sz="1800" b="0" i="0">
                <a:solidFill>
                  <a:srgbClr val="475569"/>
                </a:solidFill>
                <a:latin typeface="Segoe UI"/>
              </a:rPr>
              <a:t>•   Always amber, always a suggestion, always human-approved.</a:t>
            </a:r>
          </a:p>
        </p:txBody>
      </p:sp>
      <p:sp>
        <p:nvSpPr>
          <p:cNvPr id="7" name="Rounded Rectangle 6"/>
          <p:cNvSpPr/>
          <p:nvPr/>
        </p:nvSpPr>
        <p:spPr>
          <a:xfrm>
            <a:off x="731520" y="5074920"/>
            <a:ext cx="10698480" cy="685800"/>
          </a:xfrm>
          <a:prstGeom prst="roundRect">
            <a:avLst>
              <a:gd name="adj" fmla="val 6000"/>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lIns="274320" rtlCol="0" anchor="ctr"/>
          <a:lstStyle/>
          <a:p>
            <a:pPr algn="l">
              <a:spcAft>
                <a:spcPts val="600"/>
              </a:spcAft>
            </a:pPr>
            <a:r>
              <a:rPr sz="1400" b="0" i="1">
                <a:solidFill>
                  <a:srgbClr val="926A0A"/>
                </a:solidFill>
                <a:latin typeface="Segoe UI"/>
              </a:rPr>
              <a:t>Verbal note: runs on Claude Sonnet — wired and live, hardening for GA.</a:t>
            </a:r>
          </a:p>
        </p:txBody>
      </p:sp>
      <p:sp>
        <p:nvSpPr>
          <p:cNvPr id="8" name="TextBox 7"/>
          <p:cNvSpPr txBox="1"/>
          <p:nvPr/>
        </p:nvSpPr>
        <p:spPr>
          <a:xfrm>
            <a:off x="640080" y="6419088"/>
            <a:ext cx="10881360" cy="320040"/>
          </a:xfrm>
          <a:prstGeom prst="rect">
            <a:avLst/>
          </a:prstGeom>
          <a:noFill/>
        </p:spPr>
        <p:txBody>
          <a:bodyPr wrap="square" anchor="t">
            <a:spAutoFit/>
          </a:bodyPr>
          <a:lstStyle/>
          <a:p>
            <a:pPr algn="l">
              <a:spcAft>
                <a:spcPts val="600"/>
              </a:spcAft>
            </a:pPr>
            <a:r>
              <a:rPr sz="900" b="0" i="0">
                <a:solidFill>
                  <a:srgbClr val="94A3B8"/>
                </a:solidFill>
                <a:latin typeface="Segoe UI"/>
              </a:rPr>
              <a:t>Credentia — Confidential</a:t>
            </a:r>
          </a:p>
        </p:txBody>
      </p:sp>
      <p:sp>
        <p:nvSpPr>
          <p:cNvPr id="9" name="TextBox 8"/>
          <p:cNvSpPr txBox="1"/>
          <p:nvPr/>
        </p:nvSpPr>
        <p:spPr>
          <a:xfrm>
            <a:off x="10241280" y="6419088"/>
            <a:ext cx="1280160" cy="320040"/>
          </a:xfrm>
          <a:prstGeom prst="rect">
            <a:avLst/>
          </a:prstGeom>
          <a:noFill/>
        </p:spPr>
        <p:txBody>
          <a:bodyPr wrap="square" anchor="t">
            <a:spAutoFit/>
          </a:bodyPr>
          <a:lstStyle/>
          <a:p>
            <a:pPr algn="r">
              <a:spcAft>
                <a:spcPts val="600"/>
              </a:spcAft>
            </a:pPr>
            <a:r>
              <a:rPr sz="900" b="0" i="0">
                <a:solidFill>
                  <a:srgbClr val="94A3B8"/>
                </a:solidFill>
                <a:latin typeface="Segoe UI"/>
              </a:rPr>
              <a:t>10 / 18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502920"/>
            <a:ext cx="10881360" cy="365760"/>
          </a:xfrm>
          <a:prstGeom prst="rect">
            <a:avLst/>
          </a:prstGeom>
          <a:noFill/>
        </p:spPr>
        <p:txBody>
          <a:bodyPr wrap="square" anchor="t">
            <a:spAutoFit/>
          </a:bodyPr>
          <a:lstStyle/>
          <a:p>
            <a:pPr algn="l">
              <a:spcAft>
                <a:spcPts val="600"/>
              </a:spcAft>
            </a:pPr>
            <a:r>
              <a:rPr sz="1300" b="1" i="0">
                <a:solidFill>
                  <a:srgbClr val="6366F1"/>
                </a:solidFill>
                <a:latin typeface="Segoe UI"/>
              </a:rPr>
              <a:t>CURRENT BUILD · ENTERPRISE PLUMBING</a:t>
            </a:r>
          </a:p>
        </p:txBody>
      </p:sp>
      <p:sp>
        <p:nvSpPr>
          <p:cNvPr id="5" name="TextBox 4"/>
          <p:cNvSpPr txBox="1"/>
          <p:nvPr/>
        </p:nvSpPr>
        <p:spPr>
          <a:xfrm>
            <a:off x="640080" y="868680"/>
            <a:ext cx="10881360" cy="914400"/>
          </a:xfrm>
          <a:prstGeom prst="rect">
            <a:avLst/>
          </a:prstGeom>
          <a:noFill/>
        </p:spPr>
        <p:txBody>
          <a:bodyPr wrap="square" anchor="t">
            <a:spAutoFit/>
          </a:bodyPr>
          <a:lstStyle/>
          <a:p>
            <a:pPr algn="l">
              <a:spcAft>
                <a:spcPts val="600"/>
              </a:spcAft>
            </a:pPr>
            <a:r>
              <a:rPr sz="3400" b="1" i="0">
                <a:solidFill>
                  <a:srgbClr val="0F172A"/>
                </a:solidFill>
                <a:latin typeface="Segoe UI"/>
              </a:rPr>
              <a:t>Provisioning, lifecycle &amp; compliance.</a:t>
            </a:r>
          </a:p>
        </p:txBody>
      </p:sp>
      <p:sp>
        <p:nvSpPr>
          <p:cNvPr id="6" name="TextBox 5"/>
          <p:cNvSpPr txBox="1"/>
          <p:nvPr/>
        </p:nvSpPr>
        <p:spPr>
          <a:xfrm>
            <a:off x="731520" y="2011680"/>
            <a:ext cx="10698480" cy="4023360"/>
          </a:xfrm>
          <a:prstGeom prst="rect">
            <a:avLst/>
          </a:prstGeom>
          <a:noFill/>
        </p:spPr>
        <p:txBody>
          <a:bodyPr wrap="square" anchor="t">
            <a:spAutoFit/>
          </a:bodyPr>
          <a:lstStyle/>
          <a:p>
            <a:pPr algn="l">
              <a:spcAft>
                <a:spcPts val="1300"/>
              </a:spcAft>
            </a:pPr>
            <a:r>
              <a:rPr sz="1800" b="0" i="0">
                <a:solidFill>
                  <a:srgbClr val="475569"/>
                </a:solidFill>
                <a:latin typeface="Segoe UI"/>
              </a:rPr>
              <a:t>•   SSO / SCIM / Okta · CSV bulk import with dry-run validation.</a:t>
            </a:r>
          </a:p>
          <a:p>
            <a:pPr algn="l">
              <a:spcAft>
                <a:spcPts val="1300"/>
              </a:spcAft>
            </a:pPr>
            <a:r>
              <a:rPr sz="1800" b="0" i="0">
                <a:solidFill>
                  <a:srgbClr val="475569"/>
                </a:solidFill>
                <a:latin typeface="Segoe UI"/>
              </a:rPr>
              <a:t>•   Portable passport — employees keep their verified record for life.</a:t>
            </a:r>
          </a:p>
          <a:p>
            <a:pPr algn="l">
              <a:spcAft>
                <a:spcPts val="1300"/>
              </a:spcAft>
            </a:pPr>
            <a:r>
              <a:rPr sz="1800" b="0" i="0">
                <a:solidFill>
                  <a:srgbClr val="475569"/>
                </a:solidFill>
                <a:latin typeface="Segoe UI"/>
              </a:rPr>
              <a:t>•   Revocable public shareable profiles (verified data only).</a:t>
            </a:r>
          </a:p>
          <a:p>
            <a:pPr algn="l">
              <a:spcAft>
                <a:spcPts val="1300"/>
              </a:spcAft>
            </a:pPr>
            <a:r>
              <a:rPr sz="1800" b="0" i="0">
                <a:solidFill>
                  <a:srgbClr val="475569"/>
                </a:solidFill>
                <a:latin typeface="Segoe UI"/>
              </a:rPr>
              <a:t>•   Regulator-ready PDF exports · billing &amp; trial management.</a:t>
            </a:r>
          </a:p>
        </p:txBody>
      </p:sp>
      <p:sp>
        <p:nvSpPr>
          <p:cNvPr id="7" name="Rounded Rectangle 6"/>
          <p:cNvSpPr/>
          <p:nvPr/>
        </p:nvSpPr>
        <p:spPr>
          <a:xfrm>
            <a:off x="731520" y="5074920"/>
            <a:ext cx="10698480" cy="685800"/>
          </a:xfrm>
          <a:prstGeom prst="roundRect">
            <a:avLst>
              <a:gd name="adj" fmla="val 6000"/>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lIns="274320" rtlCol="0" anchor="ctr"/>
          <a:lstStyle/>
          <a:p>
            <a:pPr algn="l">
              <a:spcAft>
                <a:spcPts val="600"/>
              </a:spcAft>
            </a:pPr>
            <a:r>
              <a:rPr sz="1400" b="0" i="1">
                <a:solidFill>
                  <a:srgbClr val="926A0A"/>
                </a:solidFill>
                <a:latin typeface="Segoe UI"/>
              </a:rPr>
              <a:t>Verbal note: billing ledger is mocked — no payment processor wired yet.</a:t>
            </a:r>
          </a:p>
        </p:txBody>
      </p:sp>
      <p:sp>
        <p:nvSpPr>
          <p:cNvPr id="8" name="TextBox 7"/>
          <p:cNvSpPr txBox="1"/>
          <p:nvPr/>
        </p:nvSpPr>
        <p:spPr>
          <a:xfrm>
            <a:off x="640080" y="6419088"/>
            <a:ext cx="10881360" cy="320040"/>
          </a:xfrm>
          <a:prstGeom prst="rect">
            <a:avLst/>
          </a:prstGeom>
          <a:noFill/>
        </p:spPr>
        <p:txBody>
          <a:bodyPr wrap="square" anchor="t">
            <a:spAutoFit/>
          </a:bodyPr>
          <a:lstStyle/>
          <a:p>
            <a:pPr algn="l">
              <a:spcAft>
                <a:spcPts val="600"/>
              </a:spcAft>
            </a:pPr>
            <a:r>
              <a:rPr sz="900" b="0" i="0">
                <a:solidFill>
                  <a:srgbClr val="94A3B8"/>
                </a:solidFill>
                <a:latin typeface="Segoe UI"/>
              </a:rPr>
              <a:t>Credentia — Confidential</a:t>
            </a:r>
          </a:p>
        </p:txBody>
      </p:sp>
      <p:sp>
        <p:nvSpPr>
          <p:cNvPr id="9" name="TextBox 8"/>
          <p:cNvSpPr txBox="1"/>
          <p:nvPr/>
        </p:nvSpPr>
        <p:spPr>
          <a:xfrm>
            <a:off x="10241280" y="6419088"/>
            <a:ext cx="1280160" cy="320040"/>
          </a:xfrm>
          <a:prstGeom prst="rect">
            <a:avLst/>
          </a:prstGeom>
          <a:noFill/>
        </p:spPr>
        <p:txBody>
          <a:bodyPr wrap="square" anchor="t">
            <a:spAutoFit/>
          </a:bodyPr>
          <a:lstStyle/>
          <a:p>
            <a:pPr algn="r">
              <a:spcAft>
                <a:spcPts val="600"/>
              </a:spcAft>
            </a:pPr>
            <a:r>
              <a:rPr sz="900" b="0" i="0">
                <a:solidFill>
                  <a:srgbClr val="94A3B8"/>
                </a:solidFill>
                <a:latin typeface="Segoe UI"/>
              </a:rPr>
              <a:t>11 / 18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3200400"/>
            <a:ext cx="12191695" cy="54864"/>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2194560"/>
            <a:ext cx="10515600" cy="2194560"/>
          </a:xfrm>
          <a:prstGeom prst="rect">
            <a:avLst/>
          </a:prstGeom>
          <a:noFill/>
        </p:spPr>
        <p:txBody>
          <a:bodyPr wrap="square" anchor="ctr">
            <a:spAutoFit/>
          </a:bodyPr>
          <a:lstStyle/>
          <a:p>
            <a:pPr algn="l">
              <a:spcAft>
                <a:spcPts val="600"/>
              </a:spcAft>
            </a:pPr>
            <a:r>
              <a:rPr sz="4000" b="1" i="0">
                <a:solidFill>
                  <a:srgbClr val="FFFFFF"/>
                </a:solidFill>
                <a:latin typeface="Segoe UI"/>
              </a:rPr>
              <a:t>Part 2 — Where We're Going</a:t>
            </a:r>
          </a:p>
          <a:p>
            <a:pPr algn="l">
              <a:spcAft>
                <a:spcPts val="200"/>
              </a:spcAft>
            </a:pPr>
            <a:r>
              <a:rPr sz="2000" b="0" i="0">
                <a:solidFill>
                  <a:srgbClr val="94A3B8"/>
                </a:solidFill>
                <a:latin typeface="Segoe UI"/>
              </a:rPr>
              <a:t>Today we verify truth inside one company.</a:t>
            </a:r>
          </a:p>
          <a:p>
            <a:pPr algn="l">
              <a:spcAft>
                <a:spcPts val="600"/>
              </a:spcAft>
            </a:pPr>
            <a:r>
              <a:rPr sz="2000" b="1" i="0">
                <a:solidFill>
                  <a:srgbClr val="C7D2FE"/>
                </a:solidFill>
                <a:latin typeface="Segoe UI"/>
              </a:rPr>
              <a:t>Next, we make it portable.</a:t>
            </a:r>
          </a:p>
        </p:txBody>
      </p:sp>
      <p:sp>
        <p:nvSpPr>
          <p:cNvPr id="5" name="TextBox 4"/>
          <p:cNvSpPr txBox="1"/>
          <p:nvPr/>
        </p:nvSpPr>
        <p:spPr>
          <a:xfrm>
            <a:off x="640080" y="6419088"/>
            <a:ext cx="10881360" cy="320040"/>
          </a:xfrm>
          <a:prstGeom prst="rect">
            <a:avLst/>
          </a:prstGeom>
          <a:noFill/>
        </p:spPr>
        <p:txBody>
          <a:bodyPr wrap="square" anchor="t">
            <a:spAutoFit/>
          </a:bodyPr>
          <a:lstStyle/>
          <a:p>
            <a:pPr algn="l">
              <a:spcAft>
                <a:spcPts val="600"/>
              </a:spcAft>
            </a:pPr>
            <a:r>
              <a:rPr sz="900" b="0" i="0">
                <a:solidFill>
                  <a:srgbClr val="94A3B8"/>
                </a:solidFill>
                <a:latin typeface="Segoe UI"/>
              </a:rPr>
              <a:t>Credentia — Roadmap</a:t>
            </a:r>
          </a:p>
        </p:txBody>
      </p:sp>
      <p:sp>
        <p:nvSpPr>
          <p:cNvPr id="6" name="TextBox 5"/>
          <p:cNvSpPr txBox="1"/>
          <p:nvPr/>
        </p:nvSpPr>
        <p:spPr>
          <a:xfrm>
            <a:off x="10241280" y="6419088"/>
            <a:ext cx="1280160" cy="320040"/>
          </a:xfrm>
          <a:prstGeom prst="rect">
            <a:avLst/>
          </a:prstGeom>
          <a:noFill/>
        </p:spPr>
        <p:txBody>
          <a:bodyPr wrap="square" anchor="t">
            <a:spAutoFit/>
          </a:bodyPr>
          <a:lstStyle/>
          <a:p>
            <a:pPr algn="r">
              <a:spcAft>
                <a:spcPts val="600"/>
              </a:spcAft>
            </a:pPr>
            <a:r>
              <a:rPr sz="900" b="0" i="0">
                <a:solidFill>
                  <a:srgbClr val="94A3B8"/>
                </a:solidFill>
                <a:latin typeface="Segoe UI"/>
              </a:rPr>
              <a:t>12 / 18</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502920"/>
            <a:ext cx="10881360" cy="365760"/>
          </a:xfrm>
          <a:prstGeom prst="rect">
            <a:avLst/>
          </a:prstGeom>
          <a:noFill/>
        </p:spPr>
        <p:txBody>
          <a:bodyPr wrap="square" anchor="t">
            <a:spAutoFit/>
          </a:bodyPr>
          <a:lstStyle/>
          <a:p>
            <a:pPr algn="l">
              <a:spcAft>
                <a:spcPts val="600"/>
              </a:spcAft>
            </a:pPr>
            <a:r>
              <a:rPr sz="1300" b="1" i="0">
                <a:solidFill>
                  <a:srgbClr val="6366F1"/>
                </a:solidFill>
                <a:latin typeface="Segoe UI"/>
              </a:rPr>
              <a:t>THE VISION · PHASE 2 — SHORT-TERM (2–3 QUARTERS)</a:t>
            </a:r>
          </a:p>
        </p:txBody>
      </p:sp>
      <p:sp>
        <p:nvSpPr>
          <p:cNvPr id="5" name="TextBox 4"/>
          <p:cNvSpPr txBox="1"/>
          <p:nvPr/>
        </p:nvSpPr>
        <p:spPr>
          <a:xfrm>
            <a:off x="640080" y="868680"/>
            <a:ext cx="10881360" cy="914400"/>
          </a:xfrm>
          <a:prstGeom prst="rect">
            <a:avLst/>
          </a:prstGeom>
          <a:noFill/>
        </p:spPr>
        <p:txBody>
          <a:bodyPr wrap="square" anchor="t">
            <a:spAutoFit/>
          </a:bodyPr>
          <a:lstStyle/>
          <a:p>
            <a:pPr algn="l">
              <a:spcAft>
                <a:spcPts val="600"/>
              </a:spcAft>
            </a:pPr>
            <a:r>
              <a:rPr sz="3400" b="1" i="0">
                <a:solidFill>
                  <a:srgbClr val="0F172A"/>
                </a:solidFill>
                <a:latin typeface="Segoe UI"/>
              </a:rPr>
              <a:t>Deepen the moat. Monetize the data we capture.</a:t>
            </a:r>
          </a:p>
        </p:txBody>
      </p:sp>
      <p:sp>
        <p:nvSpPr>
          <p:cNvPr id="6" name="TextBox 5"/>
          <p:cNvSpPr txBox="1"/>
          <p:nvPr/>
        </p:nvSpPr>
        <p:spPr>
          <a:xfrm>
            <a:off x="731520" y="2011680"/>
            <a:ext cx="10698480" cy="4023360"/>
          </a:xfrm>
          <a:prstGeom prst="rect">
            <a:avLst/>
          </a:prstGeom>
          <a:noFill/>
        </p:spPr>
        <p:txBody>
          <a:bodyPr wrap="square" anchor="t">
            <a:spAutoFit/>
          </a:bodyPr>
          <a:lstStyle/>
          <a:p>
            <a:pPr algn="l">
              <a:spcAft>
                <a:spcPts val="1600"/>
              </a:spcAft>
            </a:pPr>
            <a:r>
              <a:rPr sz="1800" b="0" i="0">
                <a:solidFill>
                  <a:srgbClr val="475569"/>
                </a:solidFill>
                <a:latin typeface="Segoe UI"/>
              </a:rPr>
              <a:t>•   Network: cross-company credential portability · verifier marketplace.</a:t>
            </a:r>
          </a:p>
          <a:p>
            <a:pPr algn="l">
              <a:spcAft>
                <a:spcPts val="1600"/>
              </a:spcAft>
            </a:pPr>
            <a:r>
              <a:rPr sz="1800" b="0" i="0">
                <a:solidFill>
                  <a:srgbClr val="475569"/>
                </a:solidFill>
                <a:latin typeface="Segoe UI"/>
              </a:rPr>
              <a:t>•   Trust: explainable AI panels that cite the verified source · NL queries.</a:t>
            </a:r>
          </a:p>
          <a:p>
            <a:pPr algn="l">
              <a:spcAft>
                <a:spcPts val="1600"/>
              </a:spcAft>
            </a:pPr>
            <a:r>
              <a:rPr sz="1800" b="0" i="0">
                <a:solidFill>
                  <a:srgbClr val="475569"/>
                </a:solidFill>
                <a:latin typeface="Segoe UI"/>
              </a:rPr>
              <a:t>•   Workflow: mobile app · succession workspace · integrations hub.</a:t>
            </a:r>
          </a:p>
        </p:txBody>
      </p:sp>
      <p:sp>
        <p:nvSpPr>
          <p:cNvPr id="7" name="TextBox 6"/>
          <p:cNvSpPr txBox="1"/>
          <p:nvPr/>
        </p:nvSpPr>
        <p:spPr>
          <a:xfrm>
            <a:off x="731520" y="4206240"/>
            <a:ext cx="10698480" cy="548640"/>
          </a:xfrm>
          <a:prstGeom prst="rect">
            <a:avLst/>
          </a:prstGeom>
          <a:noFill/>
        </p:spPr>
        <p:txBody>
          <a:bodyPr wrap="square" anchor="t">
            <a:spAutoFit/>
          </a:bodyPr>
          <a:lstStyle/>
          <a:p>
            <a:pPr algn="l">
              <a:spcAft>
                <a:spcPts val="600"/>
              </a:spcAft>
            </a:pPr>
            <a:r>
              <a:rPr sz="1600" b="1" i="0">
                <a:solidFill>
                  <a:srgbClr val="4F46E5"/>
                </a:solidFill>
                <a:latin typeface="Segoe UI"/>
              </a:rPr>
              <a:t>Sequenced by leverage — quick trust wins first, network features next.</a:t>
            </a:r>
          </a:p>
        </p:txBody>
      </p:sp>
      <p:sp>
        <p:nvSpPr>
          <p:cNvPr id="8" name="TextBox 7"/>
          <p:cNvSpPr txBox="1"/>
          <p:nvPr/>
        </p:nvSpPr>
        <p:spPr>
          <a:xfrm>
            <a:off x="731520" y="5806440"/>
            <a:ext cx="10698480" cy="548640"/>
          </a:xfrm>
          <a:prstGeom prst="rect">
            <a:avLst/>
          </a:prstGeom>
          <a:noFill/>
        </p:spPr>
        <p:txBody>
          <a:bodyPr wrap="square" anchor="t">
            <a:spAutoFit/>
          </a:bodyPr>
          <a:lstStyle/>
          <a:p>
            <a:pPr algn="l">
              <a:spcAft>
                <a:spcPts val="600"/>
              </a:spcAft>
            </a:pPr>
            <a:r>
              <a:rPr sz="1100" b="0" i="1">
                <a:solidFill>
                  <a:srgbClr val="6366F1"/>
                </a:solidFill>
                <a:latin typeface="Segoe UI"/>
              </a:rPr>
              <a:t>VISUAL:  'More companies = more value' network-effect graphic.</a:t>
            </a:r>
          </a:p>
        </p:txBody>
      </p:sp>
      <p:sp>
        <p:nvSpPr>
          <p:cNvPr id="9" name="TextBox 8"/>
          <p:cNvSpPr txBox="1"/>
          <p:nvPr/>
        </p:nvSpPr>
        <p:spPr>
          <a:xfrm>
            <a:off x="640080" y="6419088"/>
            <a:ext cx="10881360" cy="320040"/>
          </a:xfrm>
          <a:prstGeom prst="rect">
            <a:avLst/>
          </a:prstGeom>
          <a:noFill/>
        </p:spPr>
        <p:txBody>
          <a:bodyPr wrap="square" anchor="t">
            <a:spAutoFit/>
          </a:bodyPr>
          <a:lstStyle/>
          <a:p>
            <a:pPr algn="l">
              <a:spcAft>
                <a:spcPts val="600"/>
              </a:spcAft>
            </a:pPr>
            <a:r>
              <a:rPr sz="900" b="0" i="0">
                <a:solidFill>
                  <a:srgbClr val="94A3B8"/>
                </a:solidFill>
                <a:latin typeface="Segoe UI"/>
              </a:rPr>
              <a:t>Credentia — Confidential</a:t>
            </a:r>
          </a:p>
        </p:txBody>
      </p:sp>
      <p:sp>
        <p:nvSpPr>
          <p:cNvPr id="10" name="TextBox 9"/>
          <p:cNvSpPr txBox="1"/>
          <p:nvPr/>
        </p:nvSpPr>
        <p:spPr>
          <a:xfrm>
            <a:off x="10241280" y="6419088"/>
            <a:ext cx="1280160" cy="320040"/>
          </a:xfrm>
          <a:prstGeom prst="rect">
            <a:avLst/>
          </a:prstGeom>
          <a:noFill/>
        </p:spPr>
        <p:txBody>
          <a:bodyPr wrap="square" anchor="t">
            <a:spAutoFit/>
          </a:bodyPr>
          <a:lstStyle/>
          <a:p>
            <a:pPr algn="r">
              <a:spcAft>
                <a:spcPts val="600"/>
              </a:spcAft>
            </a:pPr>
            <a:r>
              <a:rPr sz="900" b="0" i="0">
                <a:solidFill>
                  <a:srgbClr val="94A3B8"/>
                </a:solidFill>
                <a:latin typeface="Segoe UI"/>
              </a:rPr>
              <a:t>13 / 18</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502920"/>
            <a:ext cx="10881360" cy="365760"/>
          </a:xfrm>
          <a:prstGeom prst="rect">
            <a:avLst/>
          </a:prstGeom>
          <a:noFill/>
        </p:spPr>
        <p:txBody>
          <a:bodyPr wrap="square" anchor="t">
            <a:spAutoFit/>
          </a:bodyPr>
          <a:lstStyle/>
          <a:p>
            <a:pPr algn="l">
              <a:spcAft>
                <a:spcPts val="600"/>
              </a:spcAft>
            </a:pPr>
            <a:r>
              <a:rPr sz="1300" b="1" i="0">
                <a:solidFill>
                  <a:srgbClr val="6366F1"/>
                </a:solidFill>
                <a:latin typeface="Segoe UI"/>
              </a:rPr>
              <a:t>THE VISION · PHASE 3 — LONG-TERM (12–24 MONTHS)</a:t>
            </a:r>
          </a:p>
        </p:txBody>
      </p:sp>
      <p:sp>
        <p:nvSpPr>
          <p:cNvPr id="5" name="TextBox 4"/>
          <p:cNvSpPr txBox="1"/>
          <p:nvPr/>
        </p:nvSpPr>
        <p:spPr>
          <a:xfrm>
            <a:off x="640080" y="868680"/>
            <a:ext cx="10881360" cy="914400"/>
          </a:xfrm>
          <a:prstGeom prst="rect">
            <a:avLst/>
          </a:prstGeom>
          <a:noFill/>
        </p:spPr>
        <p:txBody>
          <a:bodyPr wrap="square" anchor="t">
            <a:spAutoFit/>
          </a:bodyPr>
          <a:lstStyle/>
          <a:p>
            <a:pPr algn="l">
              <a:spcAft>
                <a:spcPts val="600"/>
              </a:spcAft>
            </a:pPr>
            <a:r>
              <a:rPr sz="3400" b="1" i="0">
                <a:solidFill>
                  <a:srgbClr val="0F172A"/>
                </a:solidFill>
                <a:latin typeface="Segoe UI"/>
              </a:rPr>
              <a:t>Become the default trust layer for the labor market.</a:t>
            </a:r>
          </a:p>
        </p:txBody>
      </p:sp>
      <p:sp>
        <p:nvSpPr>
          <p:cNvPr id="6" name="TextBox 5"/>
          <p:cNvSpPr txBox="1"/>
          <p:nvPr/>
        </p:nvSpPr>
        <p:spPr>
          <a:xfrm>
            <a:off x="731520" y="2011680"/>
            <a:ext cx="10698480" cy="4023360"/>
          </a:xfrm>
          <a:prstGeom prst="rect">
            <a:avLst/>
          </a:prstGeom>
          <a:noFill/>
        </p:spPr>
        <p:txBody>
          <a:bodyPr wrap="square" anchor="t">
            <a:spAutoFit/>
          </a:bodyPr>
          <a:lstStyle/>
          <a:p>
            <a:pPr algn="l">
              <a:spcAft>
                <a:spcPts val="1300"/>
              </a:spcAft>
            </a:pPr>
            <a:r>
              <a:rPr sz="1800" b="0" i="0">
                <a:solidFill>
                  <a:srgbClr val="475569"/>
                </a:solidFill>
                <a:latin typeface="Segoe UI"/>
              </a:rPr>
              <a:t>•   Verified Talent Graph — the 'LinkedIn that can't lie.'</a:t>
            </a:r>
          </a:p>
          <a:p>
            <a:pPr algn="l">
              <a:spcAft>
                <a:spcPts val="1300"/>
              </a:spcAft>
            </a:pPr>
            <a:r>
              <a:rPr sz="1800" b="0" i="0">
                <a:solidFill>
                  <a:srgbClr val="475569"/>
                </a:solidFill>
                <a:latin typeface="Segoe UI"/>
              </a:rPr>
              <a:t>•   Verified talent marketplace · cryptographic credential anchoring.</a:t>
            </a:r>
          </a:p>
          <a:p>
            <a:pPr algn="l">
              <a:spcAft>
                <a:spcPts val="1300"/>
              </a:spcAft>
            </a:pPr>
            <a:r>
              <a:rPr sz="1800" b="0" i="0">
                <a:solidFill>
                  <a:srgbClr val="475569"/>
                </a:solidFill>
                <a:latin typeface="Segoe UI"/>
              </a:rPr>
              <a:t>•   Predictive workforce planning · pay-equity audit engine.</a:t>
            </a:r>
          </a:p>
          <a:p>
            <a:pPr algn="l">
              <a:spcAft>
                <a:spcPts val="1300"/>
              </a:spcAft>
            </a:pPr>
            <a:r>
              <a:rPr sz="1800" b="0" i="0">
                <a:solidFill>
                  <a:srgbClr val="475569"/>
                </a:solidFill>
                <a:latin typeface="Segoe UI"/>
              </a:rPr>
              <a:t>•   Benchmarking-as-a-service · developer / verification API.</a:t>
            </a:r>
          </a:p>
        </p:txBody>
      </p:sp>
      <p:sp>
        <p:nvSpPr>
          <p:cNvPr id="7" name="TextBox 6"/>
          <p:cNvSpPr txBox="1"/>
          <p:nvPr/>
        </p:nvSpPr>
        <p:spPr>
          <a:xfrm>
            <a:off x="731520" y="5806440"/>
            <a:ext cx="10698480" cy="548640"/>
          </a:xfrm>
          <a:prstGeom prst="rect">
            <a:avLst/>
          </a:prstGeom>
          <a:noFill/>
        </p:spPr>
        <p:txBody>
          <a:bodyPr wrap="square" anchor="t">
            <a:spAutoFit/>
          </a:bodyPr>
          <a:lstStyle/>
          <a:p>
            <a:pPr algn="l">
              <a:spcAft>
                <a:spcPts val="600"/>
              </a:spcAft>
            </a:pPr>
            <a:r>
              <a:rPr sz="1100" b="0" i="1">
                <a:solidFill>
                  <a:srgbClr val="6366F1"/>
                </a:solidFill>
                <a:latin typeface="Segoe UI"/>
              </a:rPr>
              <a:t>VISUAL:  Talent graph — people nodes linked across multiple company logos.</a:t>
            </a:r>
          </a:p>
        </p:txBody>
      </p:sp>
      <p:sp>
        <p:nvSpPr>
          <p:cNvPr id="8" name="TextBox 7"/>
          <p:cNvSpPr txBox="1"/>
          <p:nvPr/>
        </p:nvSpPr>
        <p:spPr>
          <a:xfrm>
            <a:off x="640080" y="6419088"/>
            <a:ext cx="10881360" cy="320040"/>
          </a:xfrm>
          <a:prstGeom prst="rect">
            <a:avLst/>
          </a:prstGeom>
          <a:noFill/>
        </p:spPr>
        <p:txBody>
          <a:bodyPr wrap="square" anchor="t">
            <a:spAutoFit/>
          </a:bodyPr>
          <a:lstStyle/>
          <a:p>
            <a:pPr algn="l">
              <a:spcAft>
                <a:spcPts val="600"/>
              </a:spcAft>
            </a:pPr>
            <a:r>
              <a:rPr sz="900" b="0" i="0">
                <a:solidFill>
                  <a:srgbClr val="94A3B8"/>
                </a:solidFill>
                <a:latin typeface="Segoe UI"/>
              </a:rPr>
              <a:t>Credentia — Confidential</a:t>
            </a:r>
          </a:p>
        </p:txBody>
      </p:sp>
      <p:sp>
        <p:nvSpPr>
          <p:cNvPr id="9" name="TextBox 8"/>
          <p:cNvSpPr txBox="1"/>
          <p:nvPr/>
        </p:nvSpPr>
        <p:spPr>
          <a:xfrm>
            <a:off x="10241280" y="6419088"/>
            <a:ext cx="1280160" cy="320040"/>
          </a:xfrm>
          <a:prstGeom prst="rect">
            <a:avLst/>
          </a:prstGeom>
          <a:noFill/>
        </p:spPr>
        <p:txBody>
          <a:bodyPr wrap="square" anchor="t">
            <a:spAutoFit/>
          </a:bodyPr>
          <a:lstStyle/>
          <a:p>
            <a:pPr algn="r">
              <a:spcAft>
                <a:spcPts val="600"/>
              </a:spcAft>
            </a:pPr>
            <a:r>
              <a:rPr sz="900" b="0" i="0">
                <a:solidFill>
                  <a:srgbClr val="94A3B8"/>
                </a:solidFill>
                <a:latin typeface="Segoe UI"/>
              </a:rPr>
              <a:t>14 / 18</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502920"/>
            <a:ext cx="10881360" cy="365760"/>
          </a:xfrm>
          <a:prstGeom prst="rect">
            <a:avLst/>
          </a:prstGeom>
          <a:noFill/>
        </p:spPr>
        <p:txBody>
          <a:bodyPr wrap="square" anchor="t">
            <a:spAutoFit/>
          </a:bodyPr>
          <a:lstStyle/>
          <a:p>
            <a:pPr algn="l">
              <a:spcAft>
                <a:spcPts val="600"/>
              </a:spcAft>
            </a:pPr>
            <a:r>
              <a:rPr sz="1300" b="1" i="0">
                <a:solidFill>
                  <a:srgbClr val="6366F1"/>
                </a:solidFill>
                <a:latin typeface="Segoe UI"/>
              </a:rPr>
              <a:t>THE STRATEGIC ARC</a:t>
            </a:r>
          </a:p>
        </p:txBody>
      </p:sp>
      <p:sp>
        <p:nvSpPr>
          <p:cNvPr id="5" name="TextBox 4"/>
          <p:cNvSpPr txBox="1"/>
          <p:nvPr/>
        </p:nvSpPr>
        <p:spPr>
          <a:xfrm>
            <a:off x="640080" y="868680"/>
            <a:ext cx="10881360" cy="914400"/>
          </a:xfrm>
          <a:prstGeom prst="rect">
            <a:avLst/>
          </a:prstGeom>
          <a:noFill/>
        </p:spPr>
        <p:txBody>
          <a:bodyPr wrap="square" anchor="t">
            <a:spAutoFit/>
          </a:bodyPr>
          <a:lstStyle/>
          <a:p>
            <a:pPr algn="l">
              <a:spcAft>
                <a:spcPts val="600"/>
              </a:spcAft>
            </a:pPr>
            <a:r>
              <a:rPr sz="3400" b="1" i="0">
                <a:solidFill>
                  <a:srgbClr val="0F172A"/>
                </a:solidFill>
                <a:latin typeface="Segoe UI"/>
              </a:rPr>
              <a:t>System → Network → Standard of Record</a:t>
            </a:r>
          </a:p>
        </p:txBody>
      </p:sp>
      <p:sp>
        <p:nvSpPr>
          <p:cNvPr id="6" name="Rounded Rectangle 5"/>
          <p:cNvSpPr/>
          <p:nvPr/>
        </p:nvSpPr>
        <p:spPr>
          <a:xfrm>
            <a:off x="731520" y="2194560"/>
            <a:ext cx="3429000" cy="2743200"/>
          </a:xfrm>
          <a:prstGeom prst="roundRect">
            <a:avLst>
              <a:gd name="adj" fmla="val 6000"/>
            </a:avLst>
          </a:prstGeom>
          <a:solidFill>
            <a:srgbClr val="E0E7FF"/>
          </a:solidFill>
          <a:ln w="12700">
            <a:solidFill>
              <a:srgbClr val="6366F1"/>
            </a:solidFill>
          </a:ln>
          <a:effectLst/>
        </p:spPr>
        <p:style>
          <a:lnRef idx="1">
            <a:schemeClr val="accent1"/>
          </a:lnRef>
          <a:fillRef idx="3">
            <a:schemeClr val="accent1"/>
          </a:fillRef>
          <a:effectRef idx="2">
            <a:schemeClr val="accent1"/>
          </a:effectRef>
          <a:fontRef idx="minor">
            <a:schemeClr val="lt1"/>
          </a:fontRef>
        </p:style>
        <p:txBody>
          <a:bodyPr wrap="square" lIns="228600" tIns="274320" rtlCol="0" anchor="ctr"/>
          <a:lstStyle/>
          <a:p>
            <a:pPr algn="l">
              <a:spcAft>
                <a:spcPts val="600"/>
              </a:spcAft>
            </a:pPr>
            <a:r>
              <a:rPr sz="2200" b="1" i="0">
                <a:solidFill>
                  <a:srgbClr val="4F46E5"/>
                </a:solidFill>
                <a:latin typeface="Segoe UI"/>
              </a:rPr>
              <a:t>Today</a:t>
            </a:r>
          </a:p>
          <a:p>
            <a:pPr algn="l">
              <a:spcAft>
                <a:spcPts val="1000"/>
              </a:spcAft>
            </a:pPr>
            <a:r>
              <a:rPr sz="1500" b="0" i="0">
                <a:solidFill>
                  <a:srgbClr val="0F172A"/>
                </a:solidFill>
                <a:latin typeface="Segoe UI"/>
              </a:rPr>
              <a:t>Truth inside one company</a:t>
            </a:r>
          </a:p>
          <a:p>
            <a:pPr algn="l">
              <a:spcAft>
                <a:spcPts val="600"/>
              </a:spcAft>
            </a:pPr>
            <a:r>
              <a:rPr sz="1400" b="0" i="0">
                <a:solidFill>
                  <a:srgbClr val="475569"/>
                </a:solidFill>
                <a:latin typeface="Segoe UI"/>
              </a:rPr>
              <a:t>Fact vs. AI separation</a:t>
            </a:r>
          </a:p>
        </p:txBody>
      </p:sp>
      <p:sp>
        <p:nvSpPr>
          <p:cNvPr id="7" name="Rounded Rectangle 6"/>
          <p:cNvSpPr/>
          <p:nvPr/>
        </p:nvSpPr>
        <p:spPr>
          <a:xfrm>
            <a:off x="4434840" y="2194560"/>
            <a:ext cx="3429000" cy="2743200"/>
          </a:xfrm>
          <a:prstGeom prst="roundRect">
            <a:avLst>
              <a:gd name="adj" fmla="val 6000"/>
            </a:avLst>
          </a:prstGeom>
          <a:solidFill>
            <a:srgbClr val="C7D2FE"/>
          </a:solidFill>
          <a:ln w="12700">
            <a:solidFill>
              <a:srgbClr val="6366F1"/>
            </a:solidFill>
          </a:ln>
          <a:effectLst/>
        </p:spPr>
        <p:style>
          <a:lnRef idx="1">
            <a:schemeClr val="accent1"/>
          </a:lnRef>
          <a:fillRef idx="3">
            <a:schemeClr val="accent1"/>
          </a:fillRef>
          <a:effectRef idx="2">
            <a:schemeClr val="accent1"/>
          </a:effectRef>
          <a:fontRef idx="minor">
            <a:schemeClr val="lt1"/>
          </a:fontRef>
        </p:style>
        <p:txBody>
          <a:bodyPr wrap="square" lIns="228600" tIns="274320" rtlCol="0" anchor="ctr"/>
          <a:lstStyle/>
          <a:p>
            <a:pPr algn="l">
              <a:spcAft>
                <a:spcPts val="600"/>
              </a:spcAft>
            </a:pPr>
            <a:r>
              <a:rPr sz="2200" b="1" i="0">
                <a:solidFill>
                  <a:srgbClr val="4F46E5"/>
                </a:solidFill>
                <a:latin typeface="Segoe UI"/>
              </a:rPr>
              <a:t>Phase 2</a:t>
            </a:r>
          </a:p>
          <a:p>
            <a:pPr algn="l">
              <a:spcAft>
                <a:spcPts val="1000"/>
              </a:spcAft>
            </a:pPr>
            <a:r>
              <a:rPr sz="1500" b="0" i="0">
                <a:solidFill>
                  <a:srgbClr val="0F172A"/>
                </a:solidFill>
                <a:latin typeface="Segoe UI"/>
              </a:rPr>
              <a:t>Truth portable between companies</a:t>
            </a:r>
          </a:p>
          <a:p>
            <a:pPr algn="l">
              <a:spcAft>
                <a:spcPts val="600"/>
              </a:spcAft>
            </a:pPr>
            <a:r>
              <a:rPr sz="1400" b="0" i="0">
                <a:solidFill>
                  <a:srgbClr val="475569"/>
                </a:solidFill>
                <a:latin typeface="Segoe UI"/>
              </a:rPr>
              <a:t>AI that cites its sources</a:t>
            </a:r>
          </a:p>
        </p:txBody>
      </p:sp>
      <p:sp>
        <p:nvSpPr>
          <p:cNvPr id="8" name="Rounded Rectangle 7"/>
          <p:cNvSpPr/>
          <p:nvPr/>
        </p:nvSpPr>
        <p:spPr>
          <a:xfrm>
            <a:off x="8138160" y="2194560"/>
            <a:ext cx="3429000" cy="2743200"/>
          </a:xfrm>
          <a:prstGeom prst="roundRect">
            <a:avLst>
              <a:gd name="adj" fmla="val 6000"/>
            </a:avLst>
          </a:prstGeom>
          <a:solidFill>
            <a:srgbClr val="6366F1"/>
          </a:solidFill>
          <a:ln w="12700">
            <a:solidFill>
              <a:srgbClr val="6366F1"/>
            </a:solidFill>
          </a:ln>
          <a:effectLst/>
        </p:spPr>
        <p:style>
          <a:lnRef idx="1">
            <a:schemeClr val="accent1"/>
          </a:lnRef>
          <a:fillRef idx="3">
            <a:schemeClr val="accent1"/>
          </a:fillRef>
          <a:effectRef idx="2">
            <a:schemeClr val="accent1"/>
          </a:effectRef>
          <a:fontRef idx="minor">
            <a:schemeClr val="lt1"/>
          </a:fontRef>
        </p:style>
        <p:txBody>
          <a:bodyPr wrap="square" lIns="228600" tIns="274320" rtlCol="0" anchor="ctr"/>
          <a:lstStyle/>
          <a:p>
            <a:pPr algn="l">
              <a:spcAft>
                <a:spcPts val="600"/>
              </a:spcAft>
            </a:pPr>
            <a:r>
              <a:rPr sz="2200" b="1" i="0">
                <a:solidFill>
                  <a:srgbClr val="FFFFFF"/>
                </a:solidFill>
                <a:latin typeface="Segoe UI"/>
              </a:rPr>
              <a:t>Phase 3</a:t>
            </a:r>
          </a:p>
          <a:p>
            <a:pPr algn="l">
              <a:spcAft>
                <a:spcPts val="1000"/>
              </a:spcAft>
            </a:pPr>
            <a:r>
              <a:rPr sz="1500" b="0" i="0">
                <a:solidFill>
                  <a:srgbClr val="FFFFFF"/>
                </a:solidFill>
                <a:latin typeface="Segoe UI"/>
              </a:rPr>
              <a:t>The trust layer for the market</a:t>
            </a:r>
          </a:p>
          <a:p>
            <a:pPr algn="l">
              <a:spcAft>
                <a:spcPts val="600"/>
              </a:spcAft>
            </a:pPr>
            <a:r>
              <a:rPr sz="1400" b="0" i="0">
                <a:solidFill>
                  <a:srgbClr val="E0E7FF"/>
                </a:solidFill>
                <a:latin typeface="Segoe UI"/>
              </a:rPr>
              <a:t>Prediction on a verified base</a:t>
            </a:r>
          </a:p>
        </p:txBody>
      </p:sp>
      <p:sp>
        <p:nvSpPr>
          <p:cNvPr id="9" name="TextBox 8"/>
          <p:cNvSpPr txBox="1"/>
          <p:nvPr/>
        </p:nvSpPr>
        <p:spPr>
          <a:xfrm>
            <a:off x="640080" y="6419088"/>
            <a:ext cx="10881360" cy="320040"/>
          </a:xfrm>
          <a:prstGeom prst="rect">
            <a:avLst/>
          </a:prstGeom>
          <a:noFill/>
        </p:spPr>
        <p:txBody>
          <a:bodyPr wrap="square" anchor="t">
            <a:spAutoFit/>
          </a:bodyPr>
          <a:lstStyle/>
          <a:p>
            <a:pPr algn="l">
              <a:spcAft>
                <a:spcPts val="600"/>
              </a:spcAft>
            </a:pPr>
            <a:r>
              <a:rPr sz="900" b="0" i="0">
                <a:solidFill>
                  <a:srgbClr val="94A3B8"/>
                </a:solidFill>
                <a:latin typeface="Segoe UI"/>
              </a:rPr>
              <a:t>Credentia — Confidential</a:t>
            </a:r>
          </a:p>
        </p:txBody>
      </p:sp>
      <p:sp>
        <p:nvSpPr>
          <p:cNvPr id="10" name="TextBox 9"/>
          <p:cNvSpPr txBox="1"/>
          <p:nvPr/>
        </p:nvSpPr>
        <p:spPr>
          <a:xfrm>
            <a:off x="10241280" y="6419088"/>
            <a:ext cx="1280160" cy="320040"/>
          </a:xfrm>
          <a:prstGeom prst="rect">
            <a:avLst/>
          </a:prstGeom>
          <a:noFill/>
        </p:spPr>
        <p:txBody>
          <a:bodyPr wrap="square" anchor="t">
            <a:spAutoFit/>
          </a:bodyPr>
          <a:lstStyle/>
          <a:p>
            <a:pPr algn="r">
              <a:spcAft>
                <a:spcPts val="600"/>
              </a:spcAft>
            </a:pPr>
            <a:r>
              <a:rPr sz="900" b="0" i="0">
                <a:solidFill>
                  <a:srgbClr val="94A3B8"/>
                </a:solidFill>
                <a:latin typeface="Segoe UI"/>
              </a:rPr>
              <a:t>15 / 18</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828800"/>
            <a:ext cx="10515600" cy="2286000"/>
          </a:xfrm>
          <a:prstGeom prst="rect">
            <a:avLst/>
          </a:prstGeom>
          <a:noFill/>
        </p:spPr>
        <p:txBody>
          <a:bodyPr wrap="square" anchor="t">
            <a:spAutoFit/>
          </a:bodyPr>
          <a:lstStyle/>
          <a:p>
            <a:pPr algn="l">
              <a:spcAft>
                <a:spcPts val="600"/>
              </a:spcAft>
            </a:pPr>
            <a:r>
              <a:rPr sz="3400" b="1" i="0">
                <a:solidFill>
                  <a:srgbClr val="FFFFFF"/>
                </a:solidFill>
                <a:latin typeface="Segoe UI"/>
              </a:rPr>
              <a:t>Credentia makes workforce data</a:t>
            </a:r>
            <a:br/>
            <a:r>
              <a:t>provable — and portable.</a:t>
            </a:r>
          </a:p>
          <a:p>
            <a:pPr algn="l">
              <a:spcAft>
                <a:spcPts val="1800"/>
              </a:spcAft>
            </a:pPr>
            <a:r>
              <a:rPr sz="1800" b="0" i="0">
                <a:solidFill>
                  <a:srgbClr val="94A3B8"/>
                </a:solidFill>
                <a:latin typeface="Segoe UI"/>
              </a:rPr>
              <a:t>A live platform · a defensible moat · a clear path to a network.</a:t>
            </a:r>
          </a:p>
          <a:p>
            <a:pPr algn="l">
              <a:spcAft>
                <a:spcPts val="600"/>
              </a:spcAft>
            </a:pPr>
            <a:r>
              <a:rPr sz="1800" b="1" i="0">
                <a:solidFill>
                  <a:srgbClr val="C7D2FE"/>
                </a:solidFill>
                <a:latin typeface="Segoe UI"/>
              </a:rPr>
              <a:t>The Ask:  [funding / pilot customers / hiring — fill per audience]</a:t>
            </a:r>
          </a:p>
        </p:txBody>
      </p:sp>
      <p:sp>
        <p:nvSpPr>
          <p:cNvPr id="5" name="TextBox 4"/>
          <p:cNvSpPr txBox="1"/>
          <p:nvPr/>
        </p:nvSpPr>
        <p:spPr>
          <a:xfrm>
            <a:off x="822960" y="5852160"/>
            <a:ext cx="10515600" cy="548640"/>
          </a:xfrm>
          <a:prstGeom prst="rect">
            <a:avLst/>
          </a:prstGeom>
          <a:noFill/>
        </p:spPr>
        <p:txBody>
          <a:bodyPr wrap="square" anchor="t">
            <a:spAutoFit/>
          </a:bodyPr>
          <a:lstStyle/>
          <a:p>
            <a:pPr algn="l">
              <a:spcAft>
                <a:spcPts val="600"/>
              </a:spcAft>
            </a:pPr>
            <a:r>
              <a:rPr sz="1400" b="0" i="0">
                <a:solidFill>
                  <a:srgbClr val="94A3B8"/>
                </a:solidFill>
                <a:latin typeface="Segoe UI"/>
              </a:rPr>
              <a:t>Contact  •  Q&amp;A</a:t>
            </a:r>
          </a:p>
        </p:txBody>
      </p:sp>
      <p:sp>
        <p:nvSpPr>
          <p:cNvPr id="6" name="TextBox 5"/>
          <p:cNvSpPr txBox="1"/>
          <p:nvPr/>
        </p:nvSpPr>
        <p:spPr>
          <a:xfrm>
            <a:off x="640080" y="6419088"/>
            <a:ext cx="10881360" cy="320040"/>
          </a:xfrm>
          <a:prstGeom prst="rect">
            <a:avLst/>
          </a:prstGeom>
          <a:noFill/>
        </p:spPr>
        <p:txBody>
          <a:bodyPr wrap="square" anchor="t">
            <a:spAutoFit/>
          </a:bodyPr>
          <a:lstStyle/>
          <a:p>
            <a:pPr algn="l">
              <a:spcAft>
                <a:spcPts val="600"/>
              </a:spcAft>
            </a:pPr>
            <a:r>
              <a:rPr sz="900" b="0" i="0">
                <a:solidFill>
                  <a:srgbClr val="94A3B8"/>
                </a:solidFill>
                <a:latin typeface="Segoe UI"/>
              </a:rPr>
              <a:t>Credentia — Confidential</a:t>
            </a:r>
          </a:p>
        </p:txBody>
      </p:sp>
      <p:sp>
        <p:nvSpPr>
          <p:cNvPr id="7" name="TextBox 6"/>
          <p:cNvSpPr txBox="1"/>
          <p:nvPr/>
        </p:nvSpPr>
        <p:spPr>
          <a:xfrm>
            <a:off x="10241280" y="6419088"/>
            <a:ext cx="1280160" cy="320040"/>
          </a:xfrm>
          <a:prstGeom prst="rect">
            <a:avLst/>
          </a:prstGeom>
          <a:noFill/>
        </p:spPr>
        <p:txBody>
          <a:bodyPr wrap="square" anchor="t">
            <a:spAutoFit/>
          </a:bodyPr>
          <a:lstStyle/>
          <a:p>
            <a:pPr algn="r">
              <a:spcAft>
                <a:spcPts val="600"/>
              </a:spcAft>
            </a:pPr>
            <a:r>
              <a:rPr sz="900" b="0" i="0">
                <a:solidFill>
                  <a:srgbClr val="94A3B8"/>
                </a:solidFill>
                <a:latin typeface="Segoe UI"/>
              </a:rPr>
              <a:t>16 / 18</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502920"/>
            <a:ext cx="10881360" cy="365760"/>
          </a:xfrm>
          <a:prstGeom prst="rect">
            <a:avLst/>
          </a:prstGeom>
          <a:noFill/>
        </p:spPr>
        <p:txBody>
          <a:bodyPr wrap="square" anchor="t">
            <a:spAutoFit/>
          </a:bodyPr>
          <a:lstStyle/>
          <a:p>
            <a:pPr algn="l">
              <a:spcAft>
                <a:spcPts val="600"/>
              </a:spcAft>
            </a:pPr>
            <a:r>
              <a:rPr sz="1300" b="1" i="0">
                <a:solidFill>
                  <a:srgbClr val="475569"/>
                </a:solidFill>
                <a:latin typeface="Segoe UI"/>
              </a:rPr>
              <a:t>APPENDIX · BUILD MATURITY</a:t>
            </a:r>
          </a:p>
        </p:txBody>
      </p:sp>
      <p:sp>
        <p:nvSpPr>
          <p:cNvPr id="5" name="TextBox 4"/>
          <p:cNvSpPr txBox="1"/>
          <p:nvPr/>
        </p:nvSpPr>
        <p:spPr>
          <a:xfrm>
            <a:off x="640080" y="868680"/>
            <a:ext cx="10881360" cy="914400"/>
          </a:xfrm>
          <a:prstGeom prst="rect">
            <a:avLst/>
          </a:prstGeom>
          <a:noFill/>
        </p:spPr>
        <p:txBody>
          <a:bodyPr wrap="square" anchor="t">
            <a:spAutoFit/>
          </a:bodyPr>
          <a:lstStyle/>
          <a:p>
            <a:pPr algn="l">
              <a:spcAft>
                <a:spcPts val="600"/>
              </a:spcAft>
            </a:pPr>
            <a:r>
              <a:rPr sz="3400" b="1" i="0">
                <a:solidFill>
                  <a:srgbClr val="0F172A"/>
                </a:solidFill>
                <a:latin typeface="Segoe UI"/>
              </a:rPr>
              <a:t>Demo-ready vs. GA-hardening (full transparency)</a:t>
            </a:r>
          </a:p>
        </p:txBody>
      </p:sp>
      <p:sp>
        <p:nvSpPr>
          <p:cNvPr id="6" name="Rounded Rectangle 5"/>
          <p:cNvSpPr/>
          <p:nvPr/>
        </p:nvSpPr>
        <p:spPr>
          <a:xfrm>
            <a:off x="731520" y="2103120"/>
            <a:ext cx="2377440" cy="822960"/>
          </a:xfrm>
          <a:prstGeom prst="roundRect">
            <a:avLst>
              <a:gd name="adj" fmla="val 6000"/>
            </a:avLst>
          </a:prstGeom>
          <a:solidFill>
            <a:srgbClr val="10B981"/>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500" b="1" i="0">
                <a:solidFill>
                  <a:srgbClr val="FFFFFF"/>
                </a:solidFill>
                <a:latin typeface="Segoe UI"/>
              </a:rPr>
              <a:t>Live</a:t>
            </a:r>
          </a:p>
        </p:txBody>
      </p:sp>
      <p:sp>
        <p:nvSpPr>
          <p:cNvPr id="7" name="TextBox 6"/>
          <p:cNvSpPr txBox="1"/>
          <p:nvPr/>
        </p:nvSpPr>
        <p:spPr>
          <a:xfrm>
            <a:off x="3291840" y="2103120"/>
            <a:ext cx="8138160" cy="822960"/>
          </a:xfrm>
          <a:prstGeom prst="rect">
            <a:avLst/>
          </a:prstGeom>
          <a:noFill/>
        </p:spPr>
        <p:txBody>
          <a:bodyPr wrap="square" anchor="ctr">
            <a:spAutoFit/>
          </a:bodyPr>
          <a:lstStyle/>
          <a:p>
            <a:pPr algn="l">
              <a:spcAft>
                <a:spcPts val="600"/>
              </a:spcAft>
            </a:pPr>
            <a:r>
              <a:rPr sz="1500" b="0" i="0">
                <a:solidFill>
                  <a:srgbClr val="475569"/>
                </a:solidFill>
                <a:latin typeface="Segoe UI"/>
              </a:rPr>
              <a:t>Verification engine · RLS multi-tenancy · audit trail · dashboards · provisioning · swipe-to-verify.</a:t>
            </a:r>
          </a:p>
        </p:txBody>
      </p:sp>
      <p:sp>
        <p:nvSpPr>
          <p:cNvPr id="8" name="Rounded Rectangle 7"/>
          <p:cNvSpPr/>
          <p:nvPr/>
        </p:nvSpPr>
        <p:spPr>
          <a:xfrm>
            <a:off x="731520" y="3108960"/>
            <a:ext cx="2377440" cy="822960"/>
          </a:xfrm>
          <a:prstGeom prst="roundRect">
            <a:avLst>
              <a:gd name="adj" fmla="val 6000"/>
            </a:avLst>
          </a:prstGeom>
          <a:solidFill>
            <a:srgbClr val="F59E0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500" b="1" i="0">
                <a:solidFill>
                  <a:srgbClr val="FFFFFF"/>
                </a:solidFill>
                <a:latin typeface="Segoe UI"/>
              </a:rPr>
              <a:t>Wired, hardening</a:t>
            </a:r>
          </a:p>
        </p:txBody>
      </p:sp>
      <p:sp>
        <p:nvSpPr>
          <p:cNvPr id="9" name="TextBox 8"/>
          <p:cNvSpPr txBox="1"/>
          <p:nvPr/>
        </p:nvSpPr>
        <p:spPr>
          <a:xfrm>
            <a:off x="3291840" y="3108960"/>
            <a:ext cx="8138160" cy="822960"/>
          </a:xfrm>
          <a:prstGeom prst="rect">
            <a:avLst/>
          </a:prstGeom>
          <a:noFill/>
        </p:spPr>
        <p:txBody>
          <a:bodyPr wrap="square" anchor="ctr">
            <a:spAutoFit/>
          </a:bodyPr>
          <a:lstStyle/>
          <a:p>
            <a:pPr algn="l">
              <a:spcAft>
                <a:spcPts val="600"/>
              </a:spcAft>
            </a:pPr>
            <a:r>
              <a:rPr sz="1500" b="0" i="0">
                <a:solidFill>
                  <a:srgbClr val="475569"/>
                </a:solidFill>
                <a:latin typeface="Segoe UI"/>
              </a:rPr>
              <a:t>AI advisory layer (Claude Sonnet) · retention flags.</a:t>
            </a:r>
          </a:p>
        </p:txBody>
      </p:sp>
      <p:sp>
        <p:nvSpPr>
          <p:cNvPr id="10" name="Rounded Rectangle 9"/>
          <p:cNvSpPr/>
          <p:nvPr/>
        </p:nvSpPr>
        <p:spPr>
          <a:xfrm>
            <a:off x="731520" y="4114800"/>
            <a:ext cx="2377440" cy="822960"/>
          </a:xfrm>
          <a:prstGeom prst="roundRect">
            <a:avLst>
              <a:gd name="adj" fmla="val 6000"/>
            </a:avLst>
          </a:prstGeom>
          <a:solidFill>
            <a:srgbClr val="EF4444"/>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500" b="1" i="0">
                <a:solidFill>
                  <a:srgbClr val="FFFFFF"/>
                </a:solidFill>
                <a:latin typeface="Segoe UI"/>
              </a:rPr>
              <a:t>Mocked</a:t>
            </a:r>
          </a:p>
        </p:txBody>
      </p:sp>
      <p:sp>
        <p:nvSpPr>
          <p:cNvPr id="11" name="TextBox 10"/>
          <p:cNvSpPr txBox="1"/>
          <p:nvPr/>
        </p:nvSpPr>
        <p:spPr>
          <a:xfrm>
            <a:off x="3291840" y="4114800"/>
            <a:ext cx="8138160" cy="822960"/>
          </a:xfrm>
          <a:prstGeom prst="rect">
            <a:avLst/>
          </a:prstGeom>
          <a:noFill/>
        </p:spPr>
        <p:txBody>
          <a:bodyPr wrap="square" anchor="ctr">
            <a:spAutoFit/>
          </a:bodyPr>
          <a:lstStyle/>
          <a:p>
            <a:pPr algn="l">
              <a:spcAft>
                <a:spcPts val="600"/>
              </a:spcAft>
            </a:pPr>
            <a:r>
              <a:rPr sz="1500" b="0" i="0">
                <a:solidFill>
                  <a:srgbClr val="475569"/>
                </a:solidFill>
                <a:latin typeface="Segoe UI"/>
              </a:rPr>
              <a:t>Billing / payment processor · dedicated-DB isolation mode.</a:t>
            </a:r>
          </a:p>
        </p:txBody>
      </p:sp>
      <p:sp>
        <p:nvSpPr>
          <p:cNvPr id="12" name="TextBox 11"/>
          <p:cNvSpPr txBox="1"/>
          <p:nvPr/>
        </p:nvSpPr>
        <p:spPr>
          <a:xfrm>
            <a:off x="640080" y="6419088"/>
            <a:ext cx="10881360" cy="320040"/>
          </a:xfrm>
          <a:prstGeom prst="rect">
            <a:avLst/>
          </a:prstGeom>
          <a:noFill/>
        </p:spPr>
        <p:txBody>
          <a:bodyPr wrap="square" anchor="t">
            <a:spAutoFit/>
          </a:bodyPr>
          <a:lstStyle/>
          <a:p>
            <a:pPr algn="l">
              <a:spcAft>
                <a:spcPts val="600"/>
              </a:spcAft>
            </a:pPr>
            <a:r>
              <a:rPr sz="900" b="0" i="0">
                <a:solidFill>
                  <a:srgbClr val="94A3B8"/>
                </a:solidFill>
                <a:latin typeface="Segoe UI"/>
              </a:rPr>
              <a:t>Credentia — Confidential</a:t>
            </a:r>
          </a:p>
        </p:txBody>
      </p:sp>
      <p:sp>
        <p:nvSpPr>
          <p:cNvPr id="13" name="TextBox 12"/>
          <p:cNvSpPr txBox="1"/>
          <p:nvPr/>
        </p:nvSpPr>
        <p:spPr>
          <a:xfrm>
            <a:off x="10241280" y="6419088"/>
            <a:ext cx="1280160" cy="320040"/>
          </a:xfrm>
          <a:prstGeom prst="rect">
            <a:avLst/>
          </a:prstGeom>
          <a:noFill/>
        </p:spPr>
        <p:txBody>
          <a:bodyPr wrap="square" anchor="t">
            <a:spAutoFit/>
          </a:bodyPr>
          <a:lstStyle/>
          <a:p>
            <a:pPr algn="r">
              <a:spcAft>
                <a:spcPts val="600"/>
              </a:spcAft>
            </a:pPr>
            <a:r>
              <a:rPr sz="900" b="0" i="0">
                <a:solidFill>
                  <a:srgbClr val="94A3B8"/>
                </a:solidFill>
                <a:latin typeface="Segoe UI"/>
              </a:rPr>
              <a:t>17 / 18</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502920"/>
            <a:ext cx="10881360" cy="365760"/>
          </a:xfrm>
          <a:prstGeom prst="rect">
            <a:avLst/>
          </a:prstGeom>
          <a:noFill/>
        </p:spPr>
        <p:txBody>
          <a:bodyPr wrap="square" anchor="t">
            <a:spAutoFit/>
          </a:bodyPr>
          <a:lstStyle/>
          <a:p>
            <a:pPr algn="l">
              <a:spcAft>
                <a:spcPts val="600"/>
              </a:spcAft>
            </a:pPr>
            <a:r>
              <a:rPr sz="1300" b="1" i="0">
                <a:solidFill>
                  <a:srgbClr val="475569"/>
                </a:solidFill>
                <a:latin typeface="Segoe UI"/>
              </a:rPr>
              <a:t>APPENDIX · TECH STACK</a:t>
            </a:r>
          </a:p>
        </p:txBody>
      </p:sp>
      <p:sp>
        <p:nvSpPr>
          <p:cNvPr id="5" name="TextBox 4"/>
          <p:cNvSpPr txBox="1"/>
          <p:nvPr/>
        </p:nvSpPr>
        <p:spPr>
          <a:xfrm>
            <a:off x="640080" y="868680"/>
            <a:ext cx="10881360" cy="914400"/>
          </a:xfrm>
          <a:prstGeom prst="rect">
            <a:avLst/>
          </a:prstGeom>
          <a:noFill/>
        </p:spPr>
        <p:txBody>
          <a:bodyPr wrap="square" anchor="t">
            <a:spAutoFit/>
          </a:bodyPr>
          <a:lstStyle/>
          <a:p>
            <a:pPr algn="l">
              <a:spcAft>
                <a:spcPts val="600"/>
              </a:spcAft>
            </a:pPr>
            <a:r>
              <a:rPr sz="3400" b="1" i="0">
                <a:solidFill>
                  <a:srgbClr val="0F172A"/>
                </a:solidFill>
                <a:latin typeface="Segoe UI"/>
              </a:rPr>
              <a:t>What it's built on</a:t>
            </a:r>
          </a:p>
        </p:txBody>
      </p:sp>
      <p:sp>
        <p:nvSpPr>
          <p:cNvPr id="6" name="Rounded Rectangle 5"/>
          <p:cNvSpPr/>
          <p:nvPr/>
        </p:nvSpPr>
        <p:spPr>
          <a:xfrm>
            <a:off x="731520" y="2103120"/>
            <a:ext cx="5120640" cy="54864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lIns="274320" rtlCol="0" anchor="ctr"/>
          <a:lstStyle/>
          <a:p>
            <a:pPr algn="l">
              <a:spcAft>
                <a:spcPts val="600"/>
              </a:spcAft>
            </a:pPr>
            <a:r>
              <a:rPr sz="1500" b="1" i="0">
                <a:solidFill>
                  <a:srgbClr val="0F172A"/>
                </a:solidFill>
                <a:latin typeface="Segoe UI"/>
              </a:rPr>
              <a:t>Next.js 16 (App Router)</a:t>
            </a:r>
          </a:p>
        </p:txBody>
      </p:sp>
      <p:sp>
        <p:nvSpPr>
          <p:cNvPr id="7" name="Rounded Rectangle 6"/>
          <p:cNvSpPr/>
          <p:nvPr/>
        </p:nvSpPr>
        <p:spPr>
          <a:xfrm>
            <a:off x="6217920" y="2103120"/>
            <a:ext cx="5120640" cy="54864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lIns="274320" rtlCol="0" anchor="ctr"/>
          <a:lstStyle/>
          <a:p>
            <a:pPr algn="l">
              <a:spcAft>
                <a:spcPts val="600"/>
              </a:spcAft>
            </a:pPr>
            <a:r>
              <a:rPr sz="1500" b="1" i="0">
                <a:solidFill>
                  <a:srgbClr val="0F172A"/>
                </a:solidFill>
                <a:latin typeface="Segoe UI"/>
              </a:rPr>
              <a:t>TypeScript</a:t>
            </a:r>
          </a:p>
        </p:txBody>
      </p:sp>
      <p:sp>
        <p:nvSpPr>
          <p:cNvPr id="8" name="Rounded Rectangle 7"/>
          <p:cNvSpPr/>
          <p:nvPr/>
        </p:nvSpPr>
        <p:spPr>
          <a:xfrm>
            <a:off x="731520" y="2834640"/>
            <a:ext cx="5120640" cy="54864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lIns="274320" rtlCol="0" anchor="ctr"/>
          <a:lstStyle/>
          <a:p>
            <a:pPr algn="l">
              <a:spcAft>
                <a:spcPts val="600"/>
              </a:spcAft>
            </a:pPr>
            <a:r>
              <a:rPr sz="1500" b="1" i="0">
                <a:solidFill>
                  <a:srgbClr val="0F172A"/>
                </a:solidFill>
                <a:latin typeface="Segoe UI"/>
              </a:rPr>
              <a:t>Supabase (Postgres + RLS)</a:t>
            </a:r>
          </a:p>
        </p:txBody>
      </p:sp>
      <p:sp>
        <p:nvSpPr>
          <p:cNvPr id="9" name="Rounded Rectangle 8"/>
          <p:cNvSpPr/>
          <p:nvPr/>
        </p:nvSpPr>
        <p:spPr>
          <a:xfrm>
            <a:off x="6217920" y="2834640"/>
            <a:ext cx="5120640" cy="54864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lIns="274320" rtlCol="0" anchor="ctr"/>
          <a:lstStyle/>
          <a:p>
            <a:pPr algn="l">
              <a:spcAft>
                <a:spcPts val="600"/>
              </a:spcAft>
            </a:pPr>
            <a:r>
              <a:rPr sz="1500" b="1" i="0">
                <a:solidFill>
                  <a:srgbClr val="0F172A"/>
                </a:solidFill>
                <a:latin typeface="Segoe UI"/>
              </a:rPr>
              <a:t>Tailwind CSS v4</a:t>
            </a:r>
          </a:p>
        </p:txBody>
      </p:sp>
      <p:sp>
        <p:nvSpPr>
          <p:cNvPr id="10" name="Rounded Rectangle 9"/>
          <p:cNvSpPr/>
          <p:nvPr/>
        </p:nvSpPr>
        <p:spPr>
          <a:xfrm>
            <a:off x="731520" y="3566160"/>
            <a:ext cx="5120640" cy="54864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lIns="274320" rtlCol="0" anchor="ctr"/>
          <a:lstStyle/>
          <a:p>
            <a:pPr algn="l">
              <a:spcAft>
                <a:spcPts val="600"/>
              </a:spcAft>
            </a:pPr>
            <a:r>
              <a:rPr sz="1500" b="1" i="0">
                <a:solidFill>
                  <a:srgbClr val="0F172A"/>
                </a:solidFill>
                <a:latin typeface="Segoe UI"/>
              </a:rPr>
              <a:t>Framer Motion</a:t>
            </a:r>
          </a:p>
        </p:txBody>
      </p:sp>
      <p:sp>
        <p:nvSpPr>
          <p:cNvPr id="11" name="Rounded Rectangle 10"/>
          <p:cNvSpPr/>
          <p:nvPr/>
        </p:nvSpPr>
        <p:spPr>
          <a:xfrm>
            <a:off x="6217920" y="3566160"/>
            <a:ext cx="5120640" cy="54864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lIns="274320" rtlCol="0" anchor="ctr"/>
          <a:lstStyle/>
          <a:p>
            <a:pPr algn="l">
              <a:spcAft>
                <a:spcPts val="600"/>
              </a:spcAft>
            </a:pPr>
            <a:r>
              <a:rPr sz="1500" b="1" i="0">
                <a:solidFill>
                  <a:srgbClr val="0F172A"/>
                </a:solidFill>
                <a:latin typeface="Segoe UI"/>
              </a:rPr>
              <a:t>Anthropic Claude</a:t>
            </a:r>
          </a:p>
        </p:txBody>
      </p:sp>
      <p:sp>
        <p:nvSpPr>
          <p:cNvPr id="12" name="Rounded Rectangle 11"/>
          <p:cNvSpPr/>
          <p:nvPr/>
        </p:nvSpPr>
        <p:spPr>
          <a:xfrm>
            <a:off x="731520" y="4297680"/>
            <a:ext cx="5120640" cy="54864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lIns="274320" rtlCol="0" anchor="ctr"/>
          <a:lstStyle/>
          <a:p>
            <a:pPr algn="l">
              <a:spcAft>
                <a:spcPts val="600"/>
              </a:spcAft>
            </a:pPr>
            <a:r>
              <a:rPr sz="1500" b="1" i="0">
                <a:solidFill>
                  <a:srgbClr val="0F172A"/>
                </a:solidFill>
                <a:latin typeface="Segoe UI"/>
              </a:rPr>
              <a:t>Vercel</a:t>
            </a:r>
          </a:p>
        </p:txBody>
      </p:sp>
      <p:sp>
        <p:nvSpPr>
          <p:cNvPr id="13" name="TextBox 12"/>
          <p:cNvSpPr txBox="1"/>
          <p:nvPr/>
        </p:nvSpPr>
        <p:spPr>
          <a:xfrm>
            <a:off x="640080" y="6419088"/>
            <a:ext cx="10881360" cy="320040"/>
          </a:xfrm>
          <a:prstGeom prst="rect">
            <a:avLst/>
          </a:prstGeom>
          <a:noFill/>
        </p:spPr>
        <p:txBody>
          <a:bodyPr wrap="square" anchor="t">
            <a:spAutoFit/>
          </a:bodyPr>
          <a:lstStyle/>
          <a:p>
            <a:pPr algn="l">
              <a:spcAft>
                <a:spcPts val="600"/>
              </a:spcAft>
            </a:pPr>
            <a:r>
              <a:rPr sz="900" b="0" i="0">
                <a:solidFill>
                  <a:srgbClr val="94A3B8"/>
                </a:solidFill>
                <a:latin typeface="Segoe UI"/>
              </a:rPr>
              <a:t>Credentia — Confidential</a:t>
            </a:r>
          </a:p>
        </p:txBody>
      </p:sp>
      <p:sp>
        <p:nvSpPr>
          <p:cNvPr id="14" name="TextBox 13"/>
          <p:cNvSpPr txBox="1"/>
          <p:nvPr/>
        </p:nvSpPr>
        <p:spPr>
          <a:xfrm>
            <a:off x="10241280" y="6419088"/>
            <a:ext cx="1280160" cy="320040"/>
          </a:xfrm>
          <a:prstGeom prst="rect">
            <a:avLst/>
          </a:prstGeom>
          <a:noFill/>
        </p:spPr>
        <p:txBody>
          <a:bodyPr wrap="square" anchor="t">
            <a:spAutoFit/>
          </a:bodyPr>
          <a:lstStyle/>
          <a:p>
            <a:pPr algn="r">
              <a:spcAft>
                <a:spcPts val="600"/>
              </a:spcAft>
            </a:pPr>
            <a:r>
              <a:rPr sz="900" b="0" i="0">
                <a:solidFill>
                  <a:srgbClr val="94A3B8"/>
                </a:solidFill>
                <a:latin typeface="Segoe UI"/>
              </a:rPr>
              <a:t>18 / 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1205</Words>
  <Application>Microsoft Office PowerPoint</Application>
  <PresentationFormat>Widescreen</PresentationFormat>
  <Paragraphs>170</Paragraphs>
  <Slides>18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Tyrell Siagi</cp:lastModifiedBy>
  <cp:revision>2</cp:revision>
  <dcterms:created xsi:type="dcterms:W3CDTF">2013-01-27T09:14:16Z</dcterms:created>
  <dcterms:modified xsi:type="dcterms:W3CDTF">2026-06-14T17:57:32Z</dcterms:modified>
  <cp:category/>
</cp:coreProperties>
</file>